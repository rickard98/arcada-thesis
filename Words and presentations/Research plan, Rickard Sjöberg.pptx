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48" r:id="rId1"/>
  </p:sldMasterIdLst>
  <p:sldIdLst>
    <p:sldId id="256" r:id="rId2"/>
    <p:sldId id="259" r:id="rId3"/>
    <p:sldId id="260" r:id="rId4"/>
    <p:sldId id="263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%"/>
            </a:schemeClr>
          </a:solidFill>
        </a:fill>
      </a:tcStyle>
    </a:wholeTbl>
    <a:band1H>
      <a:tcStyle>
        <a:tcBdr/>
        <a:fill>
          <a:solidFill>
            <a:schemeClr val="accent1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4.995%" autoAdjust="0"/>
    <p:restoredTop sz="94.66%"/>
  </p:normalViewPr>
  <p:slideViewPr>
    <p:cSldViewPr snapToGrid="0">
      <p:cViewPr varScale="1">
        <p:scale>
          <a:sx n="98" d="100"/>
          <a:sy n="98" d="100"/>
        </p:scale>
        <p:origin x="96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viewProps" Target="viewProps.xml"/><Relationship Id="rId3" Type="http://purl.oclc.org/ooxml/officeDocument/relationships/slide" Target="slides/slide2.xml"/><Relationship Id="rId7" Type="http://purl.oclc.org/ooxml/officeDocument/relationships/presProps" Target="presProps.xml"/><Relationship Id="rId2" Type="http://purl.oclc.org/ooxml/officeDocument/relationships/slide" Target="slides/slide1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5" Type="http://purl.oclc.org/ooxml/officeDocument/relationships/slide" Target="slides/slide4.xml"/><Relationship Id="rId10" Type="http://purl.oclc.org/ooxml/officeDocument/relationships/tableStyles" Target="tableStyles.xml"/><Relationship Id="rId4" Type="http://purl.oclc.org/ooxml/officeDocument/relationships/slide" Target="slides/slide3.xml"/><Relationship Id="rId9" Type="http://purl.oclc.org/ooxml/officeDocument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purl.oclc.org/ooxml/officeDocument/relationships/image" Target="../media/image5.png"/><Relationship Id="rId2" Type="http://purl.oclc.org/ooxml/officeDocument/relationships/image" Target="../media/image4.svg"/><Relationship Id="rId1" Type="http://purl.oclc.org/ooxml/officeDocument/relationships/image" Target="../media/image3.png"/><Relationship Id="rId6" Type="http://purl.oclc.org/ooxml/officeDocument/relationships/image" Target="../media/image8.svg"/><Relationship Id="rId5" Type="http://purl.oclc.org/ooxml/officeDocument/relationships/image" Target="../media/image7.png"/><Relationship Id="rId4" Type="http://purl.oclc.org/ooxml/officeDocument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purl.oclc.org/ooxml/officeDocument/relationships/image" Target="../media/image5.png"/><Relationship Id="rId2" Type="http://purl.oclc.org/ooxml/officeDocument/relationships/image" Target="../media/image4.svg"/><Relationship Id="rId1" Type="http://purl.oclc.org/ooxml/officeDocument/relationships/image" Target="../media/image3.png"/><Relationship Id="rId6" Type="http://purl.oclc.org/ooxml/officeDocument/relationships/image" Target="../media/image8.svg"/><Relationship Id="rId5" Type="http://purl.oclc.org/ooxml/officeDocument/relationships/image" Target="../media/image7.png"/><Relationship Id="rId4" Type="http://purl.oclc.org/ooxml/officeDocument/relationships/image" Target="../media/image6.svg"/></Relationships>
</file>

<file path=ppt/diagrams/colors1.xml><?xml version="1.0" encoding="utf-8"?>
<dgm:colorsDef xmlns:dgm="http://purl.oclc.org/ooxml/drawingml/diagram" xmlns:a="http://purl.oclc.org/ooxml/drawingml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%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%"/>
      </a:schemeClr>
      <a:schemeClr val="accent6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%"/>
      </a:schemeClr>
      <a:schemeClr val="accent6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%"/>
      </a:schemeClr>
      <a:schemeClr val="accent6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%"/>
      </a:schemeClr>
      <a:schemeClr val="accent6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%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%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%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%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%"/>
        <a:alpha val="90%"/>
      </a:schemeClr>
      <a:schemeClr val="accent6">
        <a:tint val="40%"/>
        <a:alpha val="90%"/>
      </a:schemeClr>
    </dgm:fillClrLst>
    <dgm:linClrLst>
      <a:schemeClr val="accent5">
        <a:tint val="40%"/>
        <a:alpha val="90%"/>
      </a:schemeClr>
      <a:schemeClr val="accent5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%"/>
        <a:alpha val="90%"/>
      </a:schemeClr>
      <a:schemeClr val="accent6">
        <a:tint val="40%"/>
        <a:alpha val="90%"/>
      </a:schemeClr>
    </dgm:fillClrLst>
    <dgm:linClrLst>
      <a:schemeClr val="accent5">
        <a:tint val="40%"/>
        <a:alpha val="90%"/>
      </a:schemeClr>
      <a:schemeClr val="accent6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%"/>
        <a:alpha val="90%"/>
      </a:schemeClr>
      <a:schemeClr val="accent6">
        <a:tint val="40%"/>
        <a:alpha val="90%"/>
      </a:schemeClr>
    </dgm:fillClrLst>
    <dgm:linClrLst>
      <a:schemeClr val="accent5">
        <a:tint val="40%"/>
        <a:alpha val="90%"/>
      </a:schemeClr>
      <a:schemeClr val="accent6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%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%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%"/>
        <a:alpha val="40%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purl.oclc.org/ooxml/drawingml/diagram" xmlns:a="http://purl.oclc.org/ooxml/drawingml/main">
  <dgm:ptLst>
    <dgm:pt modelId="{F1EE5F8A-10AC-4328-8CB7-0457EC5D75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5170B30-C722-482D-A5FC-8A2A646281FC}">
      <dgm:prSet/>
      <dgm:spPr/>
      <dgm:t>
        <a:bodyPr/>
        <a:lstStyle/>
        <a:p>
          <a:r>
            <a:rPr lang="en-US" b="1" dirty="0"/>
            <a:t>Standard data</a:t>
          </a:r>
          <a:r>
            <a:rPr lang="en-US" dirty="0"/>
            <a:t>: The dataset includes CDS spreads, interest rates, government bond yields, equity indices, FX rates,  and lagged values of these variables.</a:t>
          </a:r>
        </a:p>
      </dgm:t>
    </dgm:pt>
    <dgm:pt modelId="{DCF08AF8-190B-4F56-B6CB-CEF24E364B7C}" type="parTrans" cxnId="{2D9FEDD8-23A1-4F48-9307-3F1702CABB30}">
      <dgm:prSet/>
      <dgm:spPr/>
      <dgm:t>
        <a:bodyPr/>
        <a:lstStyle/>
        <a:p>
          <a:endParaRPr lang="en-US"/>
        </a:p>
      </dgm:t>
    </dgm:pt>
    <dgm:pt modelId="{16CBBBF5-7D5D-4E6D-AECC-29FFCB2094F2}" type="sibTrans" cxnId="{2D9FEDD8-23A1-4F48-9307-3F1702CABB30}">
      <dgm:prSet/>
      <dgm:spPr/>
      <dgm:t>
        <a:bodyPr/>
        <a:lstStyle/>
        <a:p>
          <a:endParaRPr lang="en-US"/>
        </a:p>
      </dgm:t>
    </dgm:pt>
    <dgm:pt modelId="{ECFFB460-C169-4E98-B5E1-43F9DC1CF873}">
      <dgm:prSet/>
      <dgm:spPr/>
      <dgm:t>
        <a:bodyPr/>
        <a:lstStyle/>
        <a:p>
          <a:r>
            <a:rPr lang="en-US" b="1" dirty="0"/>
            <a:t>Macroeconomic indicators</a:t>
          </a:r>
          <a:r>
            <a:rPr lang="en-US" dirty="0"/>
            <a:t>: It also incorporates key economic measures such as inflation, unemployment, business confidence indices, and GDP.</a:t>
          </a:r>
        </a:p>
      </dgm:t>
    </dgm:pt>
    <dgm:pt modelId="{663B2286-5B6E-4E1F-BAD4-3054F6F5EB08}" type="parTrans" cxnId="{6DAB0F86-0262-4E80-A930-FE56BE293AB1}">
      <dgm:prSet/>
      <dgm:spPr/>
      <dgm:t>
        <a:bodyPr/>
        <a:lstStyle/>
        <a:p>
          <a:endParaRPr lang="en-US"/>
        </a:p>
      </dgm:t>
    </dgm:pt>
    <dgm:pt modelId="{4696B38A-DFFE-48BE-A2E0-7B79EC0494A3}" type="sibTrans" cxnId="{6DAB0F86-0262-4E80-A930-FE56BE293AB1}">
      <dgm:prSet/>
      <dgm:spPr/>
      <dgm:t>
        <a:bodyPr/>
        <a:lstStyle/>
        <a:p>
          <a:endParaRPr lang="en-US"/>
        </a:p>
      </dgm:t>
    </dgm:pt>
    <dgm:pt modelId="{A49F957B-6048-48E1-847D-6E48660A1302}">
      <dgm:prSet/>
      <dgm:spPr/>
      <dgm:t>
        <a:bodyPr/>
        <a:lstStyle/>
        <a:p>
          <a:r>
            <a:rPr lang="en-US" b="1" noProof="0" dirty="0"/>
            <a:t>Textual news data</a:t>
          </a:r>
          <a:r>
            <a:rPr lang="en-US" noProof="0" dirty="0"/>
            <a:t>: Additionally, the dataset includes information extracted from country-specific central bank speeches as well as financial, business, economic, social, and global news. I will also utilize The GDELT Project, which provides daily, real-time news coverage and includes a precomputed sentiment/tone variable that can be used directly in analysis.</a:t>
          </a:r>
        </a:p>
      </dgm:t>
    </dgm:pt>
    <dgm:pt modelId="{9F9898CD-2196-4856-A9A7-AAF99D4B08E2}" type="parTrans" cxnId="{74D3AB6A-6EA0-4F8A-A835-677739B2B6E5}">
      <dgm:prSet/>
      <dgm:spPr/>
      <dgm:t>
        <a:bodyPr/>
        <a:lstStyle/>
        <a:p>
          <a:endParaRPr lang="en-US"/>
        </a:p>
      </dgm:t>
    </dgm:pt>
    <dgm:pt modelId="{1E7576AB-E8EC-44C7-A9EF-710832FAF08C}" type="sibTrans" cxnId="{74D3AB6A-6EA0-4F8A-A835-677739B2B6E5}">
      <dgm:prSet/>
      <dgm:spPr/>
      <dgm:t>
        <a:bodyPr/>
        <a:lstStyle/>
        <a:p>
          <a:endParaRPr lang="en-US"/>
        </a:p>
      </dgm:t>
    </dgm:pt>
    <dgm:pt modelId="{E58844E8-77F7-4694-82FA-8006C59FD71F}" type="pres">
      <dgm:prSet presAssocID="{F1EE5F8A-10AC-4328-8CB7-0457EC5D7581}" presName="root" presStyleCnt="0">
        <dgm:presLayoutVars>
          <dgm:dir/>
          <dgm:resizeHandles val="exact"/>
        </dgm:presLayoutVars>
      </dgm:prSet>
      <dgm:spPr/>
    </dgm:pt>
    <dgm:pt modelId="{79BCB05E-DC96-452D-86E0-445C47489CDD}" type="pres">
      <dgm:prSet presAssocID="{A5170B30-C722-482D-A5FC-8A2A646281FC}" presName="compNode" presStyleCnt="0"/>
      <dgm:spPr/>
    </dgm:pt>
    <dgm:pt modelId="{0FD35F91-B4BF-4596-9F6A-8C7781E7C7EA}" type="pres">
      <dgm:prSet presAssocID="{A5170B30-C722-482D-A5FC-8A2A646281FC}" presName="bgRect" presStyleLbl="bgShp" presStyleIdx="0" presStyleCnt="3"/>
      <dgm:spPr/>
    </dgm:pt>
    <dgm:pt modelId="{2B41F39D-AAAA-486E-B8A2-571641FC2E77}" type="pres">
      <dgm:prSet presAssocID="{A5170B30-C722-482D-A5FC-8A2A646281FC}" presName="iconRect" presStyleLbl="node1" presStyleIdx="0" presStyleCnt="3"/>
      <dgm:spPr>
        <a:blipFill>
          <a:blip xmlns:r="http://purl.oclc.org/ooxml/officeDocument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B7BB67A-1929-4A49-949B-1793130A4C80}" type="pres">
      <dgm:prSet presAssocID="{A5170B30-C722-482D-A5FC-8A2A646281FC}" presName="spaceRect" presStyleCnt="0"/>
      <dgm:spPr/>
    </dgm:pt>
    <dgm:pt modelId="{E493FDBE-1A74-47D2-A308-D966E745AB92}" type="pres">
      <dgm:prSet presAssocID="{A5170B30-C722-482D-A5FC-8A2A646281FC}" presName="parTx" presStyleLbl="revTx" presStyleIdx="0" presStyleCnt="3">
        <dgm:presLayoutVars>
          <dgm:chMax val="0"/>
          <dgm:chPref val="0"/>
        </dgm:presLayoutVars>
      </dgm:prSet>
      <dgm:spPr/>
    </dgm:pt>
    <dgm:pt modelId="{5621E413-A42A-4057-89E7-9821E42A3106}" type="pres">
      <dgm:prSet presAssocID="{16CBBBF5-7D5D-4E6D-AECC-29FFCB2094F2}" presName="sibTrans" presStyleCnt="0"/>
      <dgm:spPr/>
    </dgm:pt>
    <dgm:pt modelId="{53BE2D93-8C5C-4D2E-83C7-3CBF8D112089}" type="pres">
      <dgm:prSet presAssocID="{ECFFB460-C169-4E98-B5E1-43F9DC1CF873}" presName="compNode" presStyleCnt="0"/>
      <dgm:spPr/>
    </dgm:pt>
    <dgm:pt modelId="{568D8570-0044-46C1-A8EB-C7D52E59A0CB}" type="pres">
      <dgm:prSet presAssocID="{ECFFB460-C169-4E98-B5E1-43F9DC1CF873}" presName="bgRect" presStyleLbl="bgShp" presStyleIdx="1" presStyleCnt="3"/>
      <dgm:spPr/>
    </dgm:pt>
    <dgm:pt modelId="{9F23C440-6733-4B5C-8010-7755B7604BCC}" type="pres">
      <dgm:prSet presAssocID="{ECFFB460-C169-4E98-B5E1-43F9DC1CF873}" presName="iconRect" presStyleLbl="node1" presStyleIdx="1" presStyleCnt="3"/>
      <dgm:spPr>
        <a:blipFill>
          <a:blip xmlns:r="http://purl.oclc.org/ooxml/officeDocument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679802C-879C-4103-AC0D-21E5721731E9}" type="pres">
      <dgm:prSet presAssocID="{ECFFB460-C169-4E98-B5E1-43F9DC1CF873}" presName="spaceRect" presStyleCnt="0"/>
      <dgm:spPr/>
    </dgm:pt>
    <dgm:pt modelId="{3E5147A0-5C25-4467-85E5-EF0132034649}" type="pres">
      <dgm:prSet presAssocID="{ECFFB460-C169-4E98-B5E1-43F9DC1CF873}" presName="parTx" presStyleLbl="revTx" presStyleIdx="1" presStyleCnt="3">
        <dgm:presLayoutVars>
          <dgm:chMax val="0"/>
          <dgm:chPref val="0"/>
        </dgm:presLayoutVars>
      </dgm:prSet>
      <dgm:spPr/>
    </dgm:pt>
    <dgm:pt modelId="{0A42D576-A68C-4433-8327-2BEC7FB6E62C}" type="pres">
      <dgm:prSet presAssocID="{4696B38A-DFFE-48BE-A2E0-7B79EC0494A3}" presName="sibTrans" presStyleCnt="0"/>
      <dgm:spPr/>
    </dgm:pt>
    <dgm:pt modelId="{9FBA0608-04CB-4764-A52C-8A48E6605367}" type="pres">
      <dgm:prSet presAssocID="{A49F957B-6048-48E1-847D-6E48660A1302}" presName="compNode" presStyleCnt="0"/>
      <dgm:spPr/>
    </dgm:pt>
    <dgm:pt modelId="{646AEC38-9D5B-4994-91EA-6A0691D8A94D}" type="pres">
      <dgm:prSet presAssocID="{A49F957B-6048-48E1-847D-6E48660A1302}" presName="bgRect" presStyleLbl="bgShp" presStyleIdx="2" presStyleCnt="3"/>
      <dgm:spPr/>
    </dgm:pt>
    <dgm:pt modelId="{361CC4CB-A0CB-421B-95B1-9481AE0D3A90}" type="pres">
      <dgm:prSet presAssocID="{A49F957B-6048-48E1-847D-6E48660A1302}" presName="iconRect" presStyleLbl="node1" presStyleIdx="2" presStyleCnt="3"/>
      <dgm:spPr>
        <a:blipFill>
          <a:blip xmlns:r="http://purl.oclc.org/ooxml/officeDocument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CA71257-0450-4A90-93AA-6838B334BDAE}" type="pres">
      <dgm:prSet presAssocID="{A49F957B-6048-48E1-847D-6E48660A1302}" presName="spaceRect" presStyleCnt="0"/>
      <dgm:spPr/>
    </dgm:pt>
    <dgm:pt modelId="{179AF659-71B3-48BB-92E6-71979766FE62}" type="pres">
      <dgm:prSet presAssocID="{A49F957B-6048-48E1-847D-6E48660A130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551D805-0B63-4179-9797-1C743790E082}" type="presOf" srcId="{A5170B30-C722-482D-A5FC-8A2A646281FC}" destId="{E493FDBE-1A74-47D2-A308-D966E745AB92}" srcOrd="0" destOrd="0" presId="urn:microsoft.com/office/officeart/2018/2/layout/IconVerticalSolidList"/>
    <dgm:cxn modelId="{74D3AB6A-6EA0-4F8A-A835-677739B2B6E5}" srcId="{F1EE5F8A-10AC-4328-8CB7-0457EC5D7581}" destId="{A49F957B-6048-48E1-847D-6E48660A1302}" srcOrd="2" destOrd="0" parTransId="{9F9898CD-2196-4856-A9A7-AAF99D4B08E2}" sibTransId="{1E7576AB-E8EC-44C7-A9EF-710832FAF08C}"/>
    <dgm:cxn modelId="{582DE750-6E99-4C3F-AE4A-2678446D1295}" type="presOf" srcId="{A49F957B-6048-48E1-847D-6E48660A1302}" destId="{179AF659-71B3-48BB-92E6-71979766FE62}" srcOrd="0" destOrd="0" presId="urn:microsoft.com/office/officeart/2018/2/layout/IconVerticalSolidList"/>
    <dgm:cxn modelId="{6DAB0F86-0262-4E80-A930-FE56BE293AB1}" srcId="{F1EE5F8A-10AC-4328-8CB7-0457EC5D7581}" destId="{ECFFB460-C169-4E98-B5E1-43F9DC1CF873}" srcOrd="1" destOrd="0" parTransId="{663B2286-5B6E-4E1F-BAD4-3054F6F5EB08}" sibTransId="{4696B38A-DFFE-48BE-A2E0-7B79EC0494A3}"/>
    <dgm:cxn modelId="{215FE8BE-5DFA-458F-BDD5-FC77F6B664A2}" type="presOf" srcId="{F1EE5F8A-10AC-4328-8CB7-0457EC5D7581}" destId="{E58844E8-77F7-4694-82FA-8006C59FD71F}" srcOrd="0" destOrd="0" presId="urn:microsoft.com/office/officeart/2018/2/layout/IconVerticalSolidList"/>
    <dgm:cxn modelId="{2D9FEDD8-23A1-4F48-9307-3F1702CABB30}" srcId="{F1EE5F8A-10AC-4328-8CB7-0457EC5D7581}" destId="{A5170B30-C722-482D-A5FC-8A2A646281FC}" srcOrd="0" destOrd="0" parTransId="{DCF08AF8-190B-4F56-B6CB-CEF24E364B7C}" sibTransId="{16CBBBF5-7D5D-4E6D-AECC-29FFCB2094F2}"/>
    <dgm:cxn modelId="{2CEDA0F0-64EB-4FEB-BC34-57547C4C5B34}" type="presOf" srcId="{ECFFB460-C169-4E98-B5E1-43F9DC1CF873}" destId="{3E5147A0-5C25-4467-85E5-EF0132034649}" srcOrd="0" destOrd="0" presId="urn:microsoft.com/office/officeart/2018/2/layout/IconVerticalSolidList"/>
    <dgm:cxn modelId="{4680C352-B121-4331-83F6-3D32E7865AC1}" type="presParOf" srcId="{E58844E8-77F7-4694-82FA-8006C59FD71F}" destId="{79BCB05E-DC96-452D-86E0-445C47489CDD}" srcOrd="0" destOrd="0" presId="urn:microsoft.com/office/officeart/2018/2/layout/IconVerticalSolidList"/>
    <dgm:cxn modelId="{4CB8609F-2646-45B4-B615-844D7245D7BF}" type="presParOf" srcId="{79BCB05E-DC96-452D-86E0-445C47489CDD}" destId="{0FD35F91-B4BF-4596-9F6A-8C7781E7C7EA}" srcOrd="0" destOrd="0" presId="urn:microsoft.com/office/officeart/2018/2/layout/IconVerticalSolidList"/>
    <dgm:cxn modelId="{A016956B-9B21-4B86-B0FE-9B813040EA1E}" type="presParOf" srcId="{79BCB05E-DC96-452D-86E0-445C47489CDD}" destId="{2B41F39D-AAAA-486E-B8A2-571641FC2E77}" srcOrd="1" destOrd="0" presId="urn:microsoft.com/office/officeart/2018/2/layout/IconVerticalSolidList"/>
    <dgm:cxn modelId="{FE90141C-7821-4FB2-AFEA-DBDEA91D888A}" type="presParOf" srcId="{79BCB05E-DC96-452D-86E0-445C47489CDD}" destId="{DB7BB67A-1929-4A49-949B-1793130A4C80}" srcOrd="2" destOrd="0" presId="urn:microsoft.com/office/officeart/2018/2/layout/IconVerticalSolidList"/>
    <dgm:cxn modelId="{CCFB593A-3FB9-4BFD-8D49-38B7E16722BD}" type="presParOf" srcId="{79BCB05E-DC96-452D-86E0-445C47489CDD}" destId="{E493FDBE-1A74-47D2-A308-D966E745AB92}" srcOrd="3" destOrd="0" presId="urn:microsoft.com/office/officeart/2018/2/layout/IconVerticalSolidList"/>
    <dgm:cxn modelId="{9910E88D-E419-4366-97EF-A4D6A3814FC6}" type="presParOf" srcId="{E58844E8-77F7-4694-82FA-8006C59FD71F}" destId="{5621E413-A42A-4057-89E7-9821E42A3106}" srcOrd="1" destOrd="0" presId="urn:microsoft.com/office/officeart/2018/2/layout/IconVerticalSolidList"/>
    <dgm:cxn modelId="{283EA180-6658-4CC9-9938-E67BAA5762E5}" type="presParOf" srcId="{E58844E8-77F7-4694-82FA-8006C59FD71F}" destId="{53BE2D93-8C5C-4D2E-83C7-3CBF8D112089}" srcOrd="2" destOrd="0" presId="urn:microsoft.com/office/officeart/2018/2/layout/IconVerticalSolidList"/>
    <dgm:cxn modelId="{DFBFE101-BDE4-49ED-917C-3BFA9C625827}" type="presParOf" srcId="{53BE2D93-8C5C-4D2E-83C7-3CBF8D112089}" destId="{568D8570-0044-46C1-A8EB-C7D52E59A0CB}" srcOrd="0" destOrd="0" presId="urn:microsoft.com/office/officeart/2018/2/layout/IconVerticalSolidList"/>
    <dgm:cxn modelId="{C746B347-C0AE-4B74-9AB2-832A8F589DA4}" type="presParOf" srcId="{53BE2D93-8C5C-4D2E-83C7-3CBF8D112089}" destId="{9F23C440-6733-4B5C-8010-7755B7604BCC}" srcOrd="1" destOrd="0" presId="urn:microsoft.com/office/officeart/2018/2/layout/IconVerticalSolidList"/>
    <dgm:cxn modelId="{0D318E44-574B-4DA9-AF56-5A578B1C5E0E}" type="presParOf" srcId="{53BE2D93-8C5C-4D2E-83C7-3CBF8D112089}" destId="{9679802C-879C-4103-AC0D-21E5721731E9}" srcOrd="2" destOrd="0" presId="urn:microsoft.com/office/officeart/2018/2/layout/IconVerticalSolidList"/>
    <dgm:cxn modelId="{CA632A30-DA72-4480-915A-85A1991B7DE8}" type="presParOf" srcId="{53BE2D93-8C5C-4D2E-83C7-3CBF8D112089}" destId="{3E5147A0-5C25-4467-85E5-EF0132034649}" srcOrd="3" destOrd="0" presId="urn:microsoft.com/office/officeart/2018/2/layout/IconVerticalSolidList"/>
    <dgm:cxn modelId="{7FB67FE1-9B45-47CC-8F91-A5E4F2051DB0}" type="presParOf" srcId="{E58844E8-77F7-4694-82FA-8006C59FD71F}" destId="{0A42D576-A68C-4433-8327-2BEC7FB6E62C}" srcOrd="3" destOrd="0" presId="urn:microsoft.com/office/officeart/2018/2/layout/IconVerticalSolidList"/>
    <dgm:cxn modelId="{8285D025-4B99-49AF-A9ED-A1AD32821127}" type="presParOf" srcId="{E58844E8-77F7-4694-82FA-8006C59FD71F}" destId="{9FBA0608-04CB-4764-A52C-8A48E6605367}" srcOrd="4" destOrd="0" presId="urn:microsoft.com/office/officeart/2018/2/layout/IconVerticalSolidList"/>
    <dgm:cxn modelId="{4E7BA551-FCC5-43C4-892D-5D4299476FFD}" type="presParOf" srcId="{9FBA0608-04CB-4764-A52C-8A48E6605367}" destId="{646AEC38-9D5B-4994-91EA-6A0691D8A94D}" srcOrd="0" destOrd="0" presId="urn:microsoft.com/office/officeart/2018/2/layout/IconVerticalSolidList"/>
    <dgm:cxn modelId="{3A60E207-D234-4EC1-870B-0390E46CB7EF}" type="presParOf" srcId="{9FBA0608-04CB-4764-A52C-8A48E6605367}" destId="{361CC4CB-A0CB-421B-95B1-9481AE0D3A90}" srcOrd="1" destOrd="0" presId="urn:microsoft.com/office/officeart/2018/2/layout/IconVerticalSolidList"/>
    <dgm:cxn modelId="{E989EA29-071D-4333-AE7F-DF6C661839FB}" type="presParOf" srcId="{9FBA0608-04CB-4764-A52C-8A48E6605367}" destId="{BCA71257-0450-4A90-93AA-6838B334BDAE}" srcOrd="2" destOrd="0" presId="urn:microsoft.com/office/officeart/2018/2/layout/IconVerticalSolidList"/>
    <dgm:cxn modelId="{6F2CA70D-61CE-4030-9D94-61E239557173}" type="presParOf" srcId="{9FBA0608-04CB-4764-A52C-8A48E6605367}" destId="{179AF659-71B3-48BB-92E6-71979766FE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purl.oclc.org/ooxml/drawingml/diagram" xmlns:a="http://purl.oclc.org/ooxml/drawingml/main">
  <dgm:ptLst>
    <dgm:pt modelId="{F1EE5F8A-10AC-4328-8CB7-0457EC5D758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170B30-C722-482D-A5FC-8A2A646281FC}">
      <dgm:prSet/>
      <dgm:spPr/>
      <dgm:t>
        <a:bodyPr/>
        <a:lstStyle/>
        <a:p>
          <a:pPr>
            <a:lnSpc>
              <a:spcPct val="100%"/>
            </a:lnSpc>
          </a:pPr>
          <a:r>
            <a:rPr lang="en-US" noProof="0" dirty="0"/>
            <a:t>Topic/sentiment analysis modeling for the textual data ( for example HBDSCAN,DBSCAN, BERT-models)</a:t>
          </a:r>
          <a:endParaRPr lang="en-US" dirty="0"/>
        </a:p>
      </dgm:t>
    </dgm:pt>
    <dgm:pt modelId="{DCF08AF8-190B-4F56-B6CB-CEF24E364B7C}" type="parTrans" cxnId="{2D9FEDD8-23A1-4F48-9307-3F1702CABB30}">
      <dgm:prSet/>
      <dgm:spPr/>
      <dgm:t>
        <a:bodyPr/>
        <a:lstStyle/>
        <a:p>
          <a:endParaRPr lang="en-US"/>
        </a:p>
      </dgm:t>
    </dgm:pt>
    <dgm:pt modelId="{16CBBBF5-7D5D-4E6D-AECC-29FFCB2094F2}" type="sibTrans" cxnId="{2D9FEDD8-23A1-4F48-9307-3F1702CABB30}">
      <dgm:prSet/>
      <dgm:spPr/>
      <dgm:t>
        <a:bodyPr/>
        <a:lstStyle/>
        <a:p>
          <a:endParaRPr lang="en-US"/>
        </a:p>
      </dgm:t>
    </dgm:pt>
    <dgm:pt modelId="{ECFFB460-C169-4E98-B5E1-43F9DC1CF873}">
      <dgm:prSet/>
      <dgm:spPr/>
      <dgm:t>
        <a:bodyPr/>
        <a:lstStyle/>
        <a:p>
          <a:pPr>
            <a:lnSpc>
              <a:spcPct val="100%"/>
            </a:lnSpc>
          </a:pPr>
          <a:r>
            <a:rPr lang="en-US" noProof="0" dirty="0"/>
            <a:t>Prediction modeling: Linier, forest, SVM, LSTM, RNN, CNN </a:t>
          </a:r>
        </a:p>
      </dgm:t>
    </dgm:pt>
    <dgm:pt modelId="{663B2286-5B6E-4E1F-BAD4-3054F6F5EB08}" type="parTrans" cxnId="{6DAB0F86-0262-4E80-A930-FE56BE293AB1}">
      <dgm:prSet/>
      <dgm:spPr/>
      <dgm:t>
        <a:bodyPr/>
        <a:lstStyle/>
        <a:p>
          <a:endParaRPr lang="en-US"/>
        </a:p>
      </dgm:t>
    </dgm:pt>
    <dgm:pt modelId="{4696B38A-DFFE-48BE-A2E0-7B79EC0494A3}" type="sibTrans" cxnId="{6DAB0F86-0262-4E80-A930-FE56BE293AB1}">
      <dgm:prSet/>
      <dgm:spPr/>
      <dgm:t>
        <a:bodyPr/>
        <a:lstStyle/>
        <a:p>
          <a:endParaRPr lang="en-US"/>
        </a:p>
      </dgm:t>
    </dgm:pt>
    <dgm:pt modelId="{84820C2D-DAD9-4BF1-ABA1-6E5C2DAD299D}">
      <dgm:prSet/>
      <dgm:spPr/>
      <dgm:t>
        <a:bodyPr/>
        <a:lstStyle/>
        <a:p>
          <a:r>
            <a:rPr lang="en-US" dirty="0"/>
            <a:t>Validation models: Feature importance algorithms and Shapley Additive </a:t>
          </a:r>
          <a:r>
            <a:rPr lang="en-US" dirty="0" err="1"/>
            <a:t>exPlanations</a:t>
          </a:r>
          <a:r>
            <a:rPr lang="en-US" dirty="0"/>
            <a:t> (SHPA) </a:t>
          </a:r>
        </a:p>
      </dgm:t>
    </dgm:pt>
    <dgm:pt modelId="{D79B2D20-449D-4959-A07C-15EA7A6B2CD7}" type="parTrans" cxnId="{5FECE18A-30E1-4C35-A613-E35119DD6A1B}">
      <dgm:prSet/>
      <dgm:spPr/>
      <dgm:t>
        <a:bodyPr/>
        <a:lstStyle/>
        <a:p>
          <a:endParaRPr lang="en-US"/>
        </a:p>
      </dgm:t>
    </dgm:pt>
    <dgm:pt modelId="{3EE70A52-FED7-40E3-BAB8-14F46D6F037F}" type="sibTrans" cxnId="{5FECE18A-30E1-4C35-A613-E35119DD6A1B}">
      <dgm:prSet/>
      <dgm:spPr/>
      <dgm:t>
        <a:bodyPr/>
        <a:lstStyle/>
        <a:p>
          <a:endParaRPr lang="en-US"/>
        </a:p>
      </dgm:t>
    </dgm:pt>
    <dgm:pt modelId="{2E14034D-AAEB-4918-A6F0-D9D6F63CE9D2}" type="pres">
      <dgm:prSet presAssocID="{F1EE5F8A-10AC-4328-8CB7-0457EC5D7581}" presName="outerComposite" presStyleCnt="0">
        <dgm:presLayoutVars>
          <dgm:chMax val="5"/>
          <dgm:dir/>
          <dgm:resizeHandles val="exact"/>
        </dgm:presLayoutVars>
      </dgm:prSet>
      <dgm:spPr/>
    </dgm:pt>
    <dgm:pt modelId="{C18FF953-CF79-4756-AA71-6F494482AEEC}" type="pres">
      <dgm:prSet presAssocID="{F1EE5F8A-10AC-4328-8CB7-0457EC5D7581}" presName="dummyMaxCanvas" presStyleCnt="0">
        <dgm:presLayoutVars/>
      </dgm:prSet>
      <dgm:spPr/>
    </dgm:pt>
    <dgm:pt modelId="{42077338-50EA-40F2-AC23-D981FCB4631A}" type="pres">
      <dgm:prSet presAssocID="{F1EE5F8A-10AC-4328-8CB7-0457EC5D7581}" presName="ThreeNodes_1" presStyleLbl="node1" presStyleIdx="0" presStyleCnt="3">
        <dgm:presLayoutVars>
          <dgm:bulletEnabled val="1"/>
        </dgm:presLayoutVars>
      </dgm:prSet>
      <dgm:spPr/>
    </dgm:pt>
    <dgm:pt modelId="{14BCA812-5695-4372-A2D9-D42E119E712F}" type="pres">
      <dgm:prSet presAssocID="{F1EE5F8A-10AC-4328-8CB7-0457EC5D7581}" presName="ThreeNodes_2" presStyleLbl="node1" presStyleIdx="1" presStyleCnt="3">
        <dgm:presLayoutVars>
          <dgm:bulletEnabled val="1"/>
        </dgm:presLayoutVars>
      </dgm:prSet>
      <dgm:spPr/>
    </dgm:pt>
    <dgm:pt modelId="{3AFEA9B6-F614-47C8-8402-96A6B95768D7}" type="pres">
      <dgm:prSet presAssocID="{F1EE5F8A-10AC-4328-8CB7-0457EC5D7581}" presName="ThreeNodes_3" presStyleLbl="node1" presStyleIdx="2" presStyleCnt="3">
        <dgm:presLayoutVars>
          <dgm:bulletEnabled val="1"/>
        </dgm:presLayoutVars>
      </dgm:prSet>
      <dgm:spPr/>
    </dgm:pt>
    <dgm:pt modelId="{3EDD85D4-ACF9-4672-A4F3-2752BB913FAA}" type="pres">
      <dgm:prSet presAssocID="{F1EE5F8A-10AC-4328-8CB7-0457EC5D7581}" presName="ThreeConn_1-2" presStyleLbl="fgAccFollowNode1" presStyleIdx="0" presStyleCnt="2">
        <dgm:presLayoutVars>
          <dgm:bulletEnabled val="1"/>
        </dgm:presLayoutVars>
      </dgm:prSet>
      <dgm:spPr/>
    </dgm:pt>
    <dgm:pt modelId="{13A8D356-C50D-4773-BAED-7ABA1F64D08E}" type="pres">
      <dgm:prSet presAssocID="{F1EE5F8A-10AC-4328-8CB7-0457EC5D7581}" presName="ThreeConn_2-3" presStyleLbl="fgAccFollowNode1" presStyleIdx="1" presStyleCnt="2">
        <dgm:presLayoutVars>
          <dgm:bulletEnabled val="1"/>
        </dgm:presLayoutVars>
      </dgm:prSet>
      <dgm:spPr/>
    </dgm:pt>
    <dgm:pt modelId="{750D0288-5897-4C90-9BE2-98A47B8977FE}" type="pres">
      <dgm:prSet presAssocID="{F1EE5F8A-10AC-4328-8CB7-0457EC5D7581}" presName="ThreeNodes_1_text" presStyleLbl="node1" presStyleIdx="2" presStyleCnt="3">
        <dgm:presLayoutVars>
          <dgm:bulletEnabled val="1"/>
        </dgm:presLayoutVars>
      </dgm:prSet>
      <dgm:spPr/>
    </dgm:pt>
    <dgm:pt modelId="{9D37D4B6-49A6-4695-8EB3-FC036A91CCB5}" type="pres">
      <dgm:prSet presAssocID="{F1EE5F8A-10AC-4328-8CB7-0457EC5D7581}" presName="ThreeNodes_2_text" presStyleLbl="node1" presStyleIdx="2" presStyleCnt="3">
        <dgm:presLayoutVars>
          <dgm:bulletEnabled val="1"/>
        </dgm:presLayoutVars>
      </dgm:prSet>
      <dgm:spPr/>
    </dgm:pt>
    <dgm:pt modelId="{2EC17084-AF91-4DDE-A059-0346992FF62B}" type="pres">
      <dgm:prSet presAssocID="{F1EE5F8A-10AC-4328-8CB7-0457EC5D758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395E40B-5677-4A83-96B7-C2227BEE1244}" type="presOf" srcId="{4696B38A-DFFE-48BE-A2E0-7B79EC0494A3}" destId="{13A8D356-C50D-4773-BAED-7ABA1F64D08E}" srcOrd="0" destOrd="0" presId="urn:microsoft.com/office/officeart/2005/8/layout/vProcess5"/>
    <dgm:cxn modelId="{C996E021-35F4-4B90-8AF5-A8B88503A3B0}" type="presOf" srcId="{F1EE5F8A-10AC-4328-8CB7-0457EC5D7581}" destId="{2E14034D-AAEB-4918-A6F0-D9D6F63CE9D2}" srcOrd="0" destOrd="0" presId="urn:microsoft.com/office/officeart/2005/8/layout/vProcess5"/>
    <dgm:cxn modelId="{6DAB0F86-0262-4E80-A930-FE56BE293AB1}" srcId="{F1EE5F8A-10AC-4328-8CB7-0457EC5D7581}" destId="{ECFFB460-C169-4E98-B5E1-43F9DC1CF873}" srcOrd="1" destOrd="0" parTransId="{663B2286-5B6E-4E1F-BAD4-3054F6F5EB08}" sibTransId="{4696B38A-DFFE-48BE-A2E0-7B79EC0494A3}"/>
    <dgm:cxn modelId="{5FECE18A-30E1-4C35-A613-E35119DD6A1B}" srcId="{F1EE5F8A-10AC-4328-8CB7-0457EC5D7581}" destId="{84820C2D-DAD9-4BF1-ABA1-6E5C2DAD299D}" srcOrd="2" destOrd="0" parTransId="{D79B2D20-449D-4959-A07C-15EA7A6B2CD7}" sibTransId="{3EE70A52-FED7-40E3-BAB8-14F46D6F037F}"/>
    <dgm:cxn modelId="{D2401592-9A7F-42DB-A165-D2E354CE91FA}" type="presOf" srcId="{ECFFB460-C169-4E98-B5E1-43F9DC1CF873}" destId="{14BCA812-5695-4372-A2D9-D42E119E712F}" srcOrd="0" destOrd="0" presId="urn:microsoft.com/office/officeart/2005/8/layout/vProcess5"/>
    <dgm:cxn modelId="{23AF26A3-C49D-4ECE-BCAF-10298830D317}" type="presOf" srcId="{A5170B30-C722-482D-A5FC-8A2A646281FC}" destId="{750D0288-5897-4C90-9BE2-98A47B8977FE}" srcOrd="1" destOrd="0" presId="urn:microsoft.com/office/officeart/2005/8/layout/vProcess5"/>
    <dgm:cxn modelId="{4C496FAB-04DC-462B-9E28-6583CEB578D0}" type="presOf" srcId="{ECFFB460-C169-4E98-B5E1-43F9DC1CF873}" destId="{9D37D4B6-49A6-4695-8EB3-FC036A91CCB5}" srcOrd="1" destOrd="0" presId="urn:microsoft.com/office/officeart/2005/8/layout/vProcess5"/>
    <dgm:cxn modelId="{323A30B1-422C-4B78-95FB-5715F6AACE7D}" type="presOf" srcId="{84820C2D-DAD9-4BF1-ABA1-6E5C2DAD299D}" destId="{2EC17084-AF91-4DDE-A059-0346992FF62B}" srcOrd="1" destOrd="0" presId="urn:microsoft.com/office/officeart/2005/8/layout/vProcess5"/>
    <dgm:cxn modelId="{6E3EFECB-3598-459B-80B2-C0C255214C14}" type="presOf" srcId="{16CBBBF5-7D5D-4E6D-AECC-29FFCB2094F2}" destId="{3EDD85D4-ACF9-4672-A4F3-2752BB913FAA}" srcOrd="0" destOrd="0" presId="urn:microsoft.com/office/officeart/2005/8/layout/vProcess5"/>
    <dgm:cxn modelId="{2D9FEDD8-23A1-4F48-9307-3F1702CABB30}" srcId="{F1EE5F8A-10AC-4328-8CB7-0457EC5D7581}" destId="{A5170B30-C722-482D-A5FC-8A2A646281FC}" srcOrd="0" destOrd="0" parTransId="{DCF08AF8-190B-4F56-B6CB-CEF24E364B7C}" sibTransId="{16CBBBF5-7D5D-4E6D-AECC-29FFCB2094F2}"/>
    <dgm:cxn modelId="{7E4270E0-E711-4306-8FE8-1A78BFFCC921}" type="presOf" srcId="{A5170B30-C722-482D-A5FC-8A2A646281FC}" destId="{42077338-50EA-40F2-AC23-D981FCB4631A}" srcOrd="0" destOrd="0" presId="urn:microsoft.com/office/officeart/2005/8/layout/vProcess5"/>
    <dgm:cxn modelId="{083491F1-8088-4111-B5D9-BCE344440D74}" type="presOf" srcId="{84820C2D-DAD9-4BF1-ABA1-6E5C2DAD299D}" destId="{3AFEA9B6-F614-47C8-8402-96A6B95768D7}" srcOrd="0" destOrd="0" presId="urn:microsoft.com/office/officeart/2005/8/layout/vProcess5"/>
    <dgm:cxn modelId="{34F8C69E-C12D-4231-8805-28EC00E7B9D7}" type="presParOf" srcId="{2E14034D-AAEB-4918-A6F0-D9D6F63CE9D2}" destId="{C18FF953-CF79-4756-AA71-6F494482AEEC}" srcOrd="0" destOrd="0" presId="urn:microsoft.com/office/officeart/2005/8/layout/vProcess5"/>
    <dgm:cxn modelId="{8645AD9C-AAB9-4358-B1D7-005EBC8CBF9B}" type="presParOf" srcId="{2E14034D-AAEB-4918-A6F0-D9D6F63CE9D2}" destId="{42077338-50EA-40F2-AC23-D981FCB4631A}" srcOrd="1" destOrd="0" presId="urn:microsoft.com/office/officeart/2005/8/layout/vProcess5"/>
    <dgm:cxn modelId="{17AA830D-C89C-49C5-A074-DFD98C9377EC}" type="presParOf" srcId="{2E14034D-AAEB-4918-A6F0-D9D6F63CE9D2}" destId="{14BCA812-5695-4372-A2D9-D42E119E712F}" srcOrd="2" destOrd="0" presId="urn:microsoft.com/office/officeart/2005/8/layout/vProcess5"/>
    <dgm:cxn modelId="{69B77EDE-A2BD-45AC-BE98-000B341C5016}" type="presParOf" srcId="{2E14034D-AAEB-4918-A6F0-D9D6F63CE9D2}" destId="{3AFEA9B6-F614-47C8-8402-96A6B95768D7}" srcOrd="3" destOrd="0" presId="urn:microsoft.com/office/officeart/2005/8/layout/vProcess5"/>
    <dgm:cxn modelId="{BA380A3A-3474-45BE-95FA-F16B4B256AA2}" type="presParOf" srcId="{2E14034D-AAEB-4918-A6F0-D9D6F63CE9D2}" destId="{3EDD85D4-ACF9-4672-A4F3-2752BB913FAA}" srcOrd="4" destOrd="0" presId="urn:microsoft.com/office/officeart/2005/8/layout/vProcess5"/>
    <dgm:cxn modelId="{6F31F999-9C34-40C1-A310-E6F20231EE42}" type="presParOf" srcId="{2E14034D-AAEB-4918-A6F0-D9D6F63CE9D2}" destId="{13A8D356-C50D-4773-BAED-7ABA1F64D08E}" srcOrd="5" destOrd="0" presId="urn:microsoft.com/office/officeart/2005/8/layout/vProcess5"/>
    <dgm:cxn modelId="{9D9186B8-CF75-4426-89F4-7029E25B6170}" type="presParOf" srcId="{2E14034D-AAEB-4918-A6F0-D9D6F63CE9D2}" destId="{750D0288-5897-4C90-9BE2-98A47B8977FE}" srcOrd="6" destOrd="0" presId="urn:microsoft.com/office/officeart/2005/8/layout/vProcess5"/>
    <dgm:cxn modelId="{9EF3ADB2-F20D-4029-9688-32711D74D9FB}" type="presParOf" srcId="{2E14034D-AAEB-4918-A6F0-D9D6F63CE9D2}" destId="{9D37D4B6-49A6-4695-8EB3-FC036A91CCB5}" srcOrd="7" destOrd="0" presId="urn:microsoft.com/office/officeart/2005/8/layout/vProcess5"/>
    <dgm:cxn modelId="{2DE2A968-358D-4BE2-984E-3C9037BE4CF5}" type="presParOf" srcId="{2E14034D-AAEB-4918-A6F0-D9D6F63CE9D2}" destId="{2EC17084-AF91-4DDE-A059-0346992FF62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purl.oclc.org/ooxml/drawingml/diagram" xmlns:a="http://purl.oclc.org/ooxml/drawingml/main">
  <dgm:ptLst>
    <dgm:pt modelId="{07D2F52F-69D8-4947-9E47-A8647472F77D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4CA5DF-2AE3-466A-A7C9-F187B666B8E9}">
      <dgm:prSet phldrT="[Text]" phldr="0" custT="1"/>
      <dgm:spPr/>
      <dgm:t>
        <a:bodyPr/>
        <a:lstStyle/>
        <a:p>
          <a:r>
            <a:rPr lang="en-US" sz="900" noProof="0"/>
            <a:t>October - Nowember: Develop a well-defined finish the research plan, obtain supervisor, gather the necessary data, and determine the initial models and methods to be applied.</a:t>
          </a:r>
          <a:endParaRPr lang="en-US" sz="900" noProof="0" dirty="0"/>
        </a:p>
      </dgm:t>
    </dgm:pt>
    <dgm:pt modelId="{F41582B6-52DD-4338-9FCE-DDBA8010E7E5}" type="parTrans" cxnId="{661AC4B9-E5C8-4C15-8C66-051CECB94F35}">
      <dgm:prSet/>
      <dgm:spPr/>
      <dgm:t>
        <a:bodyPr/>
        <a:lstStyle/>
        <a:p>
          <a:endParaRPr lang="en-US"/>
        </a:p>
      </dgm:t>
    </dgm:pt>
    <dgm:pt modelId="{B0E7152B-8BA9-4D64-B4E1-9F1C74B219F4}" type="sibTrans" cxnId="{661AC4B9-E5C8-4C15-8C66-051CECB94F35}">
      <dgm:prSet/>
      <dgm:spPr/>
      <dgm:t>
        <a:bodyPr/>
        <a:lstStyle/>
        <a:p>
          <a:endParaRPr lang="en-US"/>
        </a:p>
      </dgm:t>
    </dgm:pt>
    <dgm:pt modelId="{F862706F-7E77-40FD-9E5E-4EDDD81654DC}">
      <dgm:prSet phldrT="[Text]" phldr="0"/>
      <dgm:spPr/>
      <dgm:t>
        <a:bodyPr/>
        <a:lstStyle/>
        <a:p>
          <a:r>
            <a:rPr lang="en-US"/>
            <a:t>November – December: Produce initial results in the form of a preliminary model and begin drafting the report</a:t>
          </a:r>
          <a:endParaRPr lang="en-US" dirty="0"/>
        </a:p>
      </dgm:t>
    </dgm:pt>
    <dgm:pt modelId="{AD5DC479-A087-40CD-BFFA-841547417A26}" type="parTrans" cxnId="{3DA4E222-828F-4955-BA7B-B73603DAB15F}">
      <dgm:prSet/>
      <dgm:spPr/>
      <dgm:t>
        <a:bodyPr/>
        <a:lstStyle/>
        <a:p>
          <a:endParaRPr lang="en-US"/>
        </a:p>
      </dgm:t>
    </dgm:pt>
    <dgm:pt modelId="{2CD97C89-FA24-4789-A7DF-2DC046EBB681}" type="sibTrans" cxnId="{3DA4E222-828F-4955-BA7B-B73603DAB15F}">
      <dgm:prSet/>
      <dgm:spPr/>
      <dgm:t>
        <a:bodyPr/>
        <a:lstStyle/>
        <a:p>
          <a:endParaRPr lang="en-US"/>
        </a:p>
      </dgm:t>
    </dgm:pt>
    <dgm:pt modelId="{90884FF0-F067-430F-9D67-9FEC2A72F6AE}">
      <dgm:prSet phldrT="[Text]" phldr="0"/>
      <dgm:spPr/>
      <dgm:t>
        <a:bodyPr/>
        <a:lstStyle/>
        <a:p>
          <a:r>
            <a:rPr lang="en-US"/>
            <a:t>January – March: Finalize modeless and  write some of the thesis</a:t>
          </a:r>
          <a:endParaRPr lang="en-US" dirty="0"/>
        </a:p>
      </dgm:t>
    </dgm:pt>
    <dgm:pt modelId="{B13492F4-DD7E-4703-AFC4-FE4674CE01A2}" type="parTrans" cxnId="{7B84B80D-AFF0-47DB-8930-CE58DFA44345}">
      <dgm:prSet/>
      <dgm:spPr/>
      <dgm:t>
        <a:bodyPr/>
        <a:lstStyle/>
        <a:p>
          <a:endParaRPr lang="en-US"/>
        </a:p>
      </dgm:t>
    </dgm:pt>
    <dgm:pt modelId="{175B41D7-7554-4D7F-9079-D00907DF69C9}" type="sibTrans" cxnId="{7B84B80D-AFF0-47DB-8930-CE58DFA44345}">
      <dgm:prSet/>
      <dgm:spPr/>
      <dgm:t>
        <a:bodyPr/>
        <a:lstStyle/>
        <a:p>
          <a:endParaRPr lang="en-US"/>
        </a:p>
      </dgm:t>
    </dgm:pt>
    <dgm:pt modelId="{A3744E98-94FD-44DD-96ED-8E4143687084}">
      <dgm:prSet/>
      <dgm:spPr/>
      <dgm:t>
        <a:bodyPr/>
        <a:lstStyle/>
        <a:p>
          <a:r>
            <a:rPr lang="en-US"/>
            <a:t>April - May l: Focus primarily on refining, polishing, and finalizing the thesis.</a:t>
          </a:r>
          <a:endParaRPr lang="en-US" dirty="0"/>
        </a:p>
      </dgm:t>
    </dgm:pt>
    <dgm:pt modelId="{8A735F1D-6482-45D2-8B18-88864CE9CE91}" type="parTrans" cxnId="{9685D6B4-B4EC-4BF6-8A4B-AF6AAE7677A3}">
      <dgm:prSet/>
      <dgm:spPr/>
      <dgm:t>
        <a:bodyPr/>
        <a:lstStyle/>
        <a:p>
          <a:endParaRPr lang="en-US"/>
        </a:p>
      </dgm:t>
    </dgm:pt>
    <dgm:pt modelId="{DCA19049-AC34-4887-8C6C-F1EB997498D2}" type="sibTrans" cxnId="{9685D6B4-B4EC-4BF6-8A4B-AF6AAE7677A3}">
      <dgm:prSet/>
      <dgm:spPr/>
      <dgm:t>
        <a:bodyPr/>
        <a:lstStyle/>
        <a:p>
          <a:endParaRPr lang="en-US"/>
        </a:p>
      </dgm:t>
    </dgm:pt>
    <dgm:pt modelId="{2C8EF1B2-56D6-4436-B5F7-22F9DA44A237}" type="pres">
      <dgm:prSet presAssocID="{07D2F52F-69D8-4947-9E47-A8647472F77D}" presName="Name0" presStyleCnt="0">
        <dgm:presLayoutVars>
          <dgm:dir/>
          <dgm:resizeHandles val="exact"/>
        </dgm:presLayoutVars>
      </dgm:prSet>
      <dgm:spPr/>
    </dgm:pt>
    <dgm:pt modelId="{B1A585D6-B875-4312-975A-A776B7232DA3}" type="pres">
      <dgm:prSet presAssocID="{6C4CA5DF-2AE3-466A-A7C9-F187B666B8E9}" presName="composite" presStyleCnt="0"/>
      <dgm:spPr/>
    </dgm:pt>
    <dgm:pt modelId="{28E00B9C-17E1-4835-AD97-DFA3B01DE50A}" type="pres">
      <dgm:prSet presAssocID="{6C4CA5DF-2AE3-466A-A7C9-F187B666B8E9}" presName="bgChev" presStyleLbl="node1" presStyleIdx="0" presStyleCnt="4"/>
      <dgm:spPr/>
    </dgm:pt>
    <dgm:pt modelId="{82A952F4-78FF-491B-9A24-DF538A0BD17D}" type="pres">
      <dgm:prSet presAssocID="{6C4CA5DF-2AE3-466A-A7C9-F187B666B8E9}" presName="txNode" presStyleLbl="fgAcc1" presStyleIdx="0" presStyleCnt="4" custLinFactNeighborX="-0.372%">
        <dgm:presLayoutVars>
          <dgm:bulletEnabled val="1"/>
        </dgm:presLayoutVars>
      </dgm:prSet>
      <dgm:spPr/>
    </dgm:pt>
    <dgm:pt modelId="{F183F287-7C73-460E-B139-136C2F06DF2E}" type="pres">
      <dgm:prSet presAssocID="{B0E7152B-8BA9-4D64-B4E1-9F1C74B219F4}" presName="compositeSpace" presStyleCnt="0"/>
      <dgm:spPr/>
    </dgm:pt>
    <dgm:pt modelId="{51EFE6D2-84F1-4EBB-8A87-67AFCC885D36}" type="pres">
      <dgm:prSet presAssocID="{F862706F-7E77-40FD-9E5E-4EDDD81654DC}" presName="composite" presStyleCnt="0"/>
      <dgm:spPr/>
    </dgm:pt>
    <dgm:pt modelId="{D80A1592-6C7A-46AE-99BB-6B47DF968A33}" type="pres">
      <dgm:prSet presAssocID="{F862706F-7E77-40FD-9E5E-4EDDD81654DC}" presName="bgChev" presStyleLbl="node1" presStyleIdx="1" presStyleCnt="4"/>
      <dgm:spPr/>
    </dgm:pt>
    <dgm:pt modelId="{8D75CE99-53E8-426E-95A6-5A594E02245A}" type="pres">
      <dgm:prSet presAssocID="{F862706F-7E77-40FD-9E5E-4EDDD81654DC}" presName="txNode" presStyleLbl="fgAcc1" presStyleIdx="1" presStyleCnt="4">
        <dgm:presLayoutVars>
          <dgm:bulletEnabled val="1"/>
        </dgm:presLayoutVars>
      </dgm:prSet>
      <dgm:spPr/>
    </dgm:pt>
    <dgm:pt modelId="{4CF7D988-2830-4110-B0E1-B93808017E80}" type="pres">
      <dgm:prSet presAssocID="{2CD97C89-FA24-4789-A7DF-2DC046EBB681}" presName="compositeSpace" presStyleCnt="0"/>
      <dgm:spPr/>
    </dgm:pt>
    <dgm:pt modelId="{721B2820-0C5C-4CD5-B47C-5ED8DF7DAA4B}" type="pres">
      <dgm:prSet presAssocID="{90884FF0-F067-430F-9D67-9FEC2A72F6AE}" presName="composite" presStyleCnt="0"/>
      <dgm:spPr/>
    </dgm:pt>
    <dgm:pt modelId="{A5B95BAE-FEDD-4A84-87AB-5734B443709C}" type="pres">
      <dgm:prSet presAssocID="{90884FF0-F067-430F-9D67-9FEC2A72F6AE}" presName="bgChev" presStyleLbl="node1" presStyleIdx="2" presStyleCnt="4"/>
      <dgm:spPr/>
    </dgm:pt>
    <dgm:pt modelId="{2527E485-3EE1-4188-BEEE-8CAA09A5FE6D}" type="pres">
      <dgm:prSet presAssocID="{90884FF0-F067-430F-9D67-9FEC2A72F6AE}" presName="txNode" presStyleLbl="fgAcc1" presStyleIdx="2" presStyleCnt="4">
        <dgm:presLayoutVars>
          <dgm:bulletEnabled val="1"/>
        </dgm:presLayoutVars>
      </dgm:prSet>
      <dgm:spPr/>
    </dgm:pt>
    <dgm:pt modelId="{2BF6A808-12D9-4283-8D2F-0ED82B96D13B}" type="pres">
      <dgm:prSet presAssocID="{175B41D7-7554-4D7F-9079-D00907DF69C9}" presName="compositeSpace" presStyleCnt="0"/>
      <dgm:spPr/>
    </dgm:pt>
    <dgm:pt modelId="{8F840786-1252-4647-8BEC-2B0B509F42F4}" type="pres">
      <dgm:prSet presAssocID="{A3744E98-94FD-44DD-96ED-8E4143687084}" presName="composite" presStyleCnt="0"/>
      <dgm:spPr/>
    </dgm:pt>
    <dgm:pt modelId="{DB642533-084E-49D7-ACC0-53A3EA5DC807}" type="pres">
      <dgm:prSet presAssocID="{A3744E98-94FD-44DD-96ED-8E4143687084}" presName="bgChev" presStyleLbl="node1" presStyleIdx="3" presStyleCnt="4"/>
      <dgm:spPr/>
    </dgm:pt>
    <dgm:pt modelId="{A4A8983F-2065-4247-9B84-741C79B6F026}" type="pres">
      <dgm:prSet presAssocID="{A3744E98-94FD-44DD-96ED-8E4143687084}" presName="txNode" presStyleLbl="fgAcc1" presStyleIdx="3" presStyleCnt="4">
        <dgm:presLayoutVars>
          <dgm:bulletEnabled val="1"/>
        </dgm:presLayoutVars>
      </dgm:prSet>
      <dgm:spPr/>
    </dgm:pt>
  </dgm:ptLst>
  <dgm:cxnLst>
    <dgm:cxn modelId="{7B84B80D-AFF0-47DB-8930-CE58DFA44345}" srcId="{07D2F52F-69D8-4947-9E47-A8647472F77D}" destId="{90884FF0-F067-430F-9D67-9FEC2A72F6AE}" srcOrd="2" destOrd="0" parTransId="{B13492F4-DD7E-4703-AFC4-FE4674CE01A2}" sibTransId="{175B41D7-7554-4D7F-9079-D00907DF69C9}"/>
    <dgm:cxn modelId="{3DA4E222-828F-4955-BA7B-B73603DAB15F}" srcId="{07D2F52F-69D8-4947-9E47-A8647472F77D}" destId="{F862706F-7E77-40FD-9E5E-4EDDD81654DC}" srcOrd="1" destOrd="0" parTransId="{AD5DC479-A087-40CD-BFFA-841547417A26}" sibTransId="{2CD97C89-FA24-4789-A7DF-2DC046EBB681}"/>
    <dgm:cxn modelId="{52C2EE72-BB7D-46CA-99CB-04996A15C391}" type="presOf" srcId="{A3744E98-94FD-44DD-96ED-8E4143687084}" destId="{A4A8983F-2065-4247-9B84-741C79B6F026}" srcOrd="0" destOrd="0" presId="urn:microsoft.com/office/officeart/2005/8/layout/chevronAccent+Icon"/>
    <dgm:cxn modelId="{B2F8519A-3BE8-407E-9A15-A92E778D99EC}" type="presOf" srcId="{90884FF0-F067-430F-9D67-9FEC2A72F6AE}" destId="{2527E485-3EE1-4188-BEEE-8CAA09A5FE6D}" srcOrd="0" destOrd="0" presId="urn:microsoft.com/office/officeart/2005/8/layout/chevronAccent+Icon"/>
    <dgm:cxn modelId="{9685D6B4-B4EC-4BF6-8A4B-AF6AAE7677A3}" srcId="{07D2F52F-69D8-4947-9E47-A8647472F77D}" destId="{A3744E98-94FD-44DD-96ED-8E4143687084}" srcOrd="3" destOrd="0" parTransId="{8A735F1D-6482-45D2-8B18-88864CE9CE91}" sibTransId="{DCA19049-AC34-4887-8C6C-F1EB997498D2}"/>
    <dgm:cxn modelId="{661AC4B9-E5C8-4C15-8C66-051CECB94F35}" srcId="{07D2F52F-69D8-4947-9E47-A8647472F77D}" destId="{6C4CA5DF-2AE3-466A-A7C9-F187B666B8E9}" srcOrd="0" destOrd="0" parTransId="{F41582B6-52DD-4338-9FCE-DDBA8010E7E5}" sibTransId="{B0E7152B-8BA9-4D64-B4E1-9F1C74B219F4}"/>
    <dgm:cxn modelId="{B03410D8-885C-43F1-BBD1-064D9FA0CA8B}" type="presOf" srcId="{F862706F-7E77-40FD-9E5E-4EDDD81654DC}" destId="{8D75CE99-53E8-426E-95A6-5A594E02245A}" srcOrd="0" destOrd="0" presId="urn:microsoft.com/office/officeart/2005/8/layout/chevronAccent+Icon"/>
    <dgm:cxn modelId="{D81BE8EB-77B5-4D75-9ECF-1F31CAFF6FC2}" type="presOf" srcId="{07D2F52F-69D8-4947-9E47-A8647472F77D}" destId="{2C8EF1B2-56D6-4436-B5F7-22F9DA44A237}" srcOrd="0" destOrd="0" presId="urn:microsoft.com/office/officeart/2005/8/layout/chevronAccent+Icon"/>
    <dgm:cxn modelId="{DEC2E1FC-2C10-4BD0-A496-342EBEAD5537}" type="presOf" srcId="{6C4CA5DF-2AE3-466A-A7C9-F187B666B8E9}" destId="{82A952F4-78FF-491B-9A24-DF538A0BD17D}" srcOrd="0" destOrd="0" presId="urn:microsoft.com/office/officeart/2005/8/layout/chevronAccent+Icon"/>
    <dgm:cxn modelId="{80F1D109-A510-4192-8047-7D670FE47A05}" type="presParOf" srcId="{2C8EF1B2-56D6-4436-B5F7-22F9DA44A237}" destId="{B1A585D6-B875-4312-975A-A776B7232DA3}" srcOrd="0" destOrd="0" presId="urn:microsoft.com/office/officeart/2005/8/layout/chevronAccent+Icon"/>
    <dgm:cxn modelId="{1D3D8BF8-1359-4B68-AF2B-FA788FFDF4C9}" type="presParOf" srcId="{B1A585D6-B875-4312-975A-A776B7232DA3}" destId="{28E00B9C-17E1-4835-AD97-DFA3B01DE50A}" srcOrd="0" destOrd="0" presId="urn:microsoft.com/office/officeart/2005/8/layout/chevronAccent+Icon"/>
    <dgm:cxn modelId="{DFFAE921-E109-43AC-945B-BB955001BBCC}" type="presParOf" srcId="{B1A585D6-B875-4312-975A-A776B7232DA3}" destId="{82A952F4-78FF-491B-9A24-DF538A0BD17D}" srcOrd="1" destOrd="0" presId="urn:microsoft.com/office/officeart/2005/8/layout/chevronAccent+Icon"/>
    <dgm:cxn modelId="{44E7D5E4-13F9-4180-93F0-BBCEDBEE3476}" type="presParOf" srcId="{2C8EF1B2-56D6-4436-B5F7-22F9DA44A237}" destId="{F183F287-7C73-460E-B139-136C2F06DF2E}" srcOrd="1" destOrd="0" presId="urn:microsoft.com/office/officeart/2005/8/layout/chevronAccent+Icon"/>
    <dgm:cxn modelId="{C343E88B-A365-46A3-A478-F203ED00E8DB}" type="presParOf" srcId="{2C8EF1B2-56D6-4436-B5F7-22F9DA44A237}" destId="{51EFE6D2-84F1-4EBB-8A87-67AFCC885D36}" srcOrd="2" destOrd="0" presId="urn:microsoft.com/office/officeart/2005/8/layout/chevronAccent+Icon"/>
    <dgm:cxn modelId="{C82499C0-1FE5-48A7-978E-BDF51DA5F21E}" type="presParOf" srcId="{51EFE6D2-84F1-4EBB-8A87-67AFCC885D36}" destId="{D80A1592-6C7A-46AE-99BB-6B47DF968A33}" srcOrd="0" destOrd="0" presId="urn:microsoft.com/office/officeart/2005/8/layout/chevronAccent+Icon"/>
    <dgm:cxn modelId="{0C9A2454-0B17-4658-9ABA-FE502F846D8D}" type="presParOf" srcId="{51EFE6D2-84F1-4EBB-8A87-67AFCC885D36}" destId="{8D75CE99-53E8-426E-95A6-5A594E02245A}" srcOrd="1" destOrd="0" presId="urn:microsoft.com/office/officeart/2005/8/layout/chevronAccent+Icon"/>
    <dgm:cxn modelId="{3D91BC31-DC40-47FD-A716-FC2EAE43A2B3}" type="presParOf" srcId="{2C8EF1B2-56D6-4436-B5F7-22F9DA44A237}" destId="{4CF7D988-2830-4110-B0E1-B93808017E80}" srcOrd="3" destOrd="0" presId="urn:microsoft.com/office/officeart/2005/8/layout/chevronAccent+Icon"/>
    <dgm:cxn modelId="{D9255A2C-12D9-44C3-8F3C-803118E77DF6}" type="presParOf" srcId="{2C8EF1B2-56D6-4436-B5F7-22F9DA44A237}" destId="{721B2820-0C5C-4CD5-B47C-5ED8DF7DAA4B}" srcOrd="4" destOrd="0" presId="urn:microsoft.com/office/officeart/2005/8/layout/chevronAccent+Icon"/>
    <dgm:cxn modelId="{7C5545FC-96B1-4044-BF5B-329143161C03}" type="presParOf" srcId="{721B2820-0C5C-4CD5-B47C-5ED8DF7DAA4B}" destId="{A5B95BAE-FEDD-4A84-87AB-5734B443709C}" srcOrd="0" destOrd="0" presId="urn:microsoft.com/office/officeart/2005/8/layout/chevronAccent+Icon"/>
    <dgm:cxn modelId="{FDED4CB6-B08B-4AE2-91EA-6AF669FF59BF}" type="presParOf" srcId="{721B2820-0C5C-4CD5-B47C-5ED8DF7DAA4B}" destId="{2527E485-3EE1-4188-BEEE-8CAA09A5FE6D}" srcOrd="1" destOrd="0" presId="urn:microsoft.com/office/officeart/2005/8/layout/chevronAccent+Icon"/>
    <dgm:cxn modelId="{DF0DD8E3-A771-4898-A2A2-6D1F2ACD7ACB}" type="presParOf" srcId="{2C8EF1B2-56D6-4436-B5F7-22F9DA44A237}" destId="{2BF6A808-12D9-4283-8D2F-0ED82B96D13B}" srcOrd="5" destOrd="0" presId="urn:microsoft.com/office/officeart/2005/8/layout/chevronAccent+Icon"/>
    <dgm:cxn modelId="{FE3EDA38-F316-4806-B2C2-3814AC43392C}" type="presParOf" srcId="{2C8EF1B2-56D6-4436-B5F7-22F9DA44A237}" destId="{8F840786-1252-4647-8BEC-2B0B509F42F4}" srcOrd="6" destOrd="0" presId="urn:microsoft.com/office/officeart/2005/8/layout/chevronAccent+Icon"/>
    <dgm:cxn modelId="{C5DB13E1-0470-4F41-9508-035999B8F551}" type="presParOf" srcId="{8F840786-1252-4647-8BEC-2B0B509F42F4}" destId="{DB642533-084E-49D7-ACC0-53A3EA5DC807}" srcOrd="0" destOrd="0" presId="urn:microsoft.com/office/officeart/2005/8/layout/chevronAccent+Icon"/>
    <dgm:cxn modelId="{BDA7F1C4-AB5C-4203-9AE7-EA4AE142F9C8}" type="presParOf" srcId="{8F840786-1252-4647-8BEC-2B0B509F42F4}" destId="{A4A8983F-2065-4247-9B84-741C79B6F026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0FD35F91-B4BF-4596-9F6A-8C7781E7C7EA}">
      <dsp:nvSpPr>
        <dsp:cNvPr id="0" name=""/>
        <dsp:cNvSpPr/>
      </dsp:nvSpPr>
      <dsp:spPr>
        <a:xfrm>
          <a:off x="0" y="5232"/>
          <a:ext cx="6703557" cy="1792509"/>
        </a:xfrm>
        <a:prstGeom prst="roundRect">
          <a:avLst>
            <a:gd name="adj" fmla="val 10000"/>
          </a:avLst>
        </a:prstGeom>
        <a:solidFill>
          <a:schemeClr val="bg1">
            <a:lumMod val="95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</dsp:sp>
    <dsp:sp modelId="{2B41F39D-AAAA-486E-B8A2-571641FC2E77}">
      <dsp:nvSpPr>
        <dsp:cNvPr id="0" name=""/>
        <dsp:cNvSpPr/>
      </dsp:nvSpPr>
      <dsp:spPr>
        <a:xfrm>
          <a:off x="542234" y="408547"/>
          <a:ext cx="986843" cy="985880"/>
        </a:xfrm>
        <a:prstGeom prst="rect">
          <a:avLst/>
        </a:prstGeom>
        <a:blipFill>
          <a:blip xmlns:r="http://purl.oclc.org/ooxml/officeDocument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E493FDBE-1A74-47D2-A308-D966E745AB92}">
      <dsp:nvSpPr>
        <dsp:cNvPr id="0" name=""/>
        <dsp:cNvSpPr/>
      </dsp:nvSpPr>
      <dsp:spPr>
        <a:xfrm>
          <a:off x="2071312" y="5232"/>
          <a:ext cx="4523437" cy="1794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%" g="0%" b="0%"/>
        </a:lnRef>
        <a:fillRef idx="0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89893" tIns="189893" rIns="189893" bIns="189893" numCol="1" spcCol="1270" anchor="ctr" anchorCtr="0">
          <a:noAutofit/>
        </a:bodyPr>
        <a:lstStyle/>
        <a:p>
          <a:pPr marL="0" lvl="0" indent="0" algn="l" defTabSz="6223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400" b="1" kern="1200" dirty="0"/>
            <a:t>Standard data</a:t>
          </a:r>
          <a:r>
            <a:rPr lang="en-US" sz="1400" kern="1200" dirty="0"/>
            <a:t>: The dataset includes CDS spreads, interest rates, government bond yields, equity indices, FX rates,  and lagged values of these variables.</a:t>
          </a:r>
        </a:p>
      </dsp:txBody>
      <dsp:txXfrm>
        <a:off x="2071312" y="5232"/>
        <a:ext cx="4523437" cy="1794261"/>
      </dsp:txXfrm>
    </dsp:sp>
    <dsp:sp modelId="{568D8570-0044-46C1-A8EB-C7D52E59A0CB}">
      <dsp:nvSpPr>
        <dsp:cNvPr id="0" name=""/>
        <dsp:cNvSpPr/>
      </dsp:nvSpPr>
      <dsp:spPr>
        <a:xfrm>
          <a:off x="0" y="2221673"/>
          <a:ext cx="6703557" cy="1792509"/>
        </a:xfrm>
        <a:prstGeom prst="roundRect">
          <a:avLst>
            <a:gd name="adj" fmla="val 10000"/>
          </a:avLst>
        </a:prstGeom>
        <a:solidFill>
          <a:schemeClr val="bg1">
            <a:lumMod val="95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</dsp:sp>
    <dsp:sp modelId="{9F23C440-6733-4B5C-8010-7755B7604BCC}">
      <dsp:nvSpPr>
        <dsp:cNvPr id="0" name=""/>
        <dsp:cNvSpPr/>
      </dsp:nvSpPr>
      <dsp:spPr>
        <a:xfrm>
          <a:off x="542234" y="2624988"/>
          <a:ext cx="986843" cy="985880"/>
        </a:xfrm>
        <a:prstGeom prst="rect">
          <a:avLst/>
        </a:prstGeom>
        <a:blipFill>
          <a:blip xmlns:r="http://purl.oclc.org/ooxml/officeDocument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3E5147A0-5C25-4467-85E5-EF0132034649}">
      <dsp:nvSpPr>
        <dsp:cNvPr id="0" name=""/>
        <dsp:cNvSpPr/>
      </dsp:nvSpPr>
      <dsp:spPr>
        <a:xfrm>
          <a:off x="2071312" y="2221673"/>
          <a:ext cx="4523437" cy="1794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%" g="0%" b="0%"/>
        </a:lnRef>
        <a:fillRef idx="0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89893" tIns="189893" rIns="189893" bIns="189893" numCol="1" spcCol="1270" anchor="ctr" anchorCtr="0">
          <a:noAutofit/>
        </a:bodyPr>
        <a:lstStyle/>
        <a:p>
          <a:pPr marL="0" lvl="0" indent="0" algn="l" defTabSz="6223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400" b="1" kern="1200" dirty="0"/>
            <a:t>Macroeconomic indicators</a:t>
          </a:r>
          <a:r>
            <a:rPr lang="en-US" sz="1400" kern="1200" dirty="0"/>
            <a:t>: It also incorporates key economic measures such as inflation, unemployment, business confidence indices, and GDP.</a:t>
          </a:r>
        </a:p>
      </dsp:txBody>
      <dsp:txXfrm>
        <a:off x="2071312" y="2221673"/>
        <a:ext cx="4523437" cy="1794261"/>
      </dsp:txXfrm>
    </dsp:sp>
    <dsp:sp modelId="{646AEC38-9D5B-4994-91EA-6A0691D8A94D}">
      <dsp:nvSpPr>
        <dsp:cNvPr id="0" name=""/>
        <dsp:cNvSpPr/>
      </dsp:nvSpPr>
      <dsp:spPr>
        <a:xfrm>
          <a:off x="0" y="4438114"/>
          <a:ext cx="6703557" cy="1792509"/>
        </a:xfrm>
        <a:prstGeom prst="roundRect">
          <a:avLst>
            <a:gd name="adj" fmla="val 10000"/>
          </a:avLst>
        </a:prstGeom>
        <a:solidFill>
          <a:schemeClr val="bg1">
            <a:lumMod val="95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</dsp:sp>
    <dsp:sp modelId="{361CC4CB-A0CB-421B-95B1-9481AE0D3A90}">
      <dsp:nvSpPr>
        <dsp:cNvPr id="0" name=""/>
        <dsp:cNvSpPr/>
      </dsp:nvSpPr>
      <dsp:spPr>
        <a:xfrm>
          <a:off x="542764" y="4841429"/>
          <a:ext cx="986843" cy="985880"/>
        </a:xfrm>
        <a:prstGeom prst="rect">
          <a:avLst/>
        </a:prstGeom>
        <a:blipFill>
          <a:blip xmlns:r="http://purl.oclc.org/ooxml/officeDocument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179AF659-71B3-48BB-92E6-71979766FE62}">
      <dsp:nvSpPr>
        <dsp:cNvPr id="0" name=""/>
        <dsp:cNvSpPr/>
      </dsp:nvSpPr>
      <dsp:spPr>
        <a:xfrm>
          <a:off x="2072372" y="4438114"/>
          <a:ext cx="4523437" cy="1794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%" g="0%" b="0%"/>
        </a:lnRef>
        <a:fillRef idx="0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89893" tIns="189893" rIns="189893" bIns="189893" numCol="1" spcCol="1270" anchor="ctr" anchorCtr="0">
          <a:noAutofit/>
        </a:bodyPr>
        <a:lstStyle/>
        <a:p>
          <a:pPr marL="0" lvl="0" indent="0" algn="l" defTabSz="6223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400" b="1" kern="1200" noProof="0" dirty="0"/>
            <a:t>Textual news data</a:t>
          </a:r>
          <a:r>
            <a:rPr lang="en-US" sz="1400" kern="1200" noProof="0" dirty="0"/>
            <a:t>: Additionally, the dataset includes information extracted from country-specific central bank speeches as well as financial, business, economic, social, and global news. I will also utilize The GDELT Project, which provides daily, real-time news coverage and includes a precomputed sentiment/tone variable that can be used directly in analysis.</a:t>
          </a:r>
        </a:p>
      </dsp:txBody>
      <dsp:txXfrm>
        <a:off x="2072372" y="4438114"/>
        <a:ext cx="4523437" cy="1794261"/>
      </dsp:txXfrm>
    </dsp:sp>
  </dsp:spTree>
</dsp:drawing>
</file>

<file path=ppt/diagrams/drawing2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42077338-50EA-40F2-AC23-D981FCB4631A}">
      <dsp:nvSpPr>
        <dsp:cNvPr id="0" name=""/>
        <dsp:cNvSpPr/>
      </dsp:nvSpPr>
      <dsp:spPr>
        <a:xfrm>
          <a:off x="0" y="0"/>
          <a:ext cx="8358515" cy="1000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400" kern="1200" noProof="0" dirty="0"/>
            <a:t>Topic/sentiment analysis modeling for the textual data ( for example HBDSCAN,DBSCAN, BERT-models)</a:t>
          </a:r>
          <a:endParaRPr lang="en-US" sz="2400" kern="1200" dirty="0"/>
        </a:p>
      </dsp:txBody>
      <dsp:txXfrm>
        <a:off x="29318" y="29318"/>
        <a:ext cx="7278383" cy="942340"/>
      </dsp:txXfrm>
    </dsp:sp>
    <dsp:sp modelId="{14BCA812-5695-4372-A2D9-D42E119E712F}">
      <dsp:nvSpPr>
        <dsp:cNvPr id="0" name=""/>
        <dsp:cNvSpPr/>
      </dsp:nvSpPr>
      <dsp:spPr>
        <a:xfrm>
          <a:off x="737516" y="1167805"/>
          <a:ext cx="8358515" cy="1000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400" kern="1200" noProof="0" dirty="0"/>
            <a:t>Prediction modeling: Linier, forest, SVM, LSTM, RNN, CNN </a:t>
          </a:r>
        </a:p>
      </dsp:txBody>
      <dsp:txXfrm>
        <a:off x="766834" y="1197123"/>
        <a:ext cx="6911729" cy="942340"/>
      </dsp:txXfrm>
    </dsp:sp>
    <dsp:sp modelId="{3AFEA9B6-F614-47C8-8402-96A6B95768D7}">
      <dsp:nvSpPr>
        <dsp:cNvPr id="0" name=""/>
        <dsp:cNvSpPr/>
      </dsp:nvSpPr>
      <dsp:spPr>
        <a:xfrm>
          <a:off x="1475032" y="2335610"/>
          <a:ext cx="8358515" cy="1000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400" kern="1200" dirty="0"/>
            <a:t>Validation models: Feature importance algorithms and Shapley Additive </a:t>
          </a:r>
          <a:r>
            <a:rPr lang="en-US" sz="2400" kern="1200" dirty="0" err="1"/>
            <a:t>exPlanations</a:t>
          </a:r>
          <a:r>
            <a:rPr lang="en-US" sz="2400" kern="1200" dirty="0"/>
            <a:t> (SHPA) </a:t>
          </a:r>
        </a:p>
      </dsp:txBody>
      <dsp:txXfrm>
        <a:off x="1504350" y="2364928"/>
        <a:ext cx="6911729" cy="942340"/>
      </dsp:txXfrm>
    </dsp:sp>
    <dsp:sp modelId="{3EDD85D4-ACF9-4672-A4F3-2752BB913FAA}">
      <dsp:nvSpPr>
        <dsp:cNvPr id="0" name=""/>
        <dsp:cNvSpPr/>
      </dsp:nvSpPr>
      <dsp:spPr>
        <a:xfrm>
          <a:off x="7707881" y="759073"/>
          <a:ext cx="650634" cy="65063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%"/>
            <a:tint val="40%"/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accent1">
              <a:alpha val="90%"/>
              <a:tint val="40%"/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endParaRPr lang="en-US" sz="2900" kern="1200"/>
        </a:p>
      </dsp:txBody>
      <dsp:txXfrm>
        <a:off x="7854274" y="759073"/>
        <a:ext cx="357848" cy="489602"/>
      </dsp:txXfrm>
    </dsp:sp>
    <dsp:sp modelId="{13A8D356-C50D-4773-BAED-7ABA1F64D08E}">
      <dsp:nvSpPr>
        <dsp:cNvPr id="0" name=""/>
        <dsp:cNvSpPr/>
      </dsp:nvSpPr>
      <dsp:spPr>
        <a:xfrm>
          <a:off x="8445397" y="1920205"/>
          <a:ext cx="650634" cy="65063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%"/>
            <a:tint val="40%"/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accent1">
              <a:alpha val="90%"/>
              <a:tint val="40%"/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endParaRPr lang="en-US" sz="2900" kern="1200"/>
        </a:p>
      </dsp:txBody>
      <dsp:txXfrm>
        <a:off x="8591790" y="1920205"/>
        <a:ext cx="357848" cy="489602"/>
      </dsp:txXfrm>
    </dsp:sp>
  </dsp:spTree>
</dsp:drawing>
</file>

<file path=ppt/diagrams/drawing3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28E00B9C-17E1-4835-AD97-DFA3B01DE50A}">
      <dsp:nvSpPr>
        <dsp:cNvPr id="0" name=""/>
        <dsp:cNvSpPr/>
      </dsp:nvSpPr>
      <dsp:spPr>
        <a:xfrm>
          <a:off x="4918" y="417510"/>
          <a:ext cx="2315177" cy="893658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82A952F4-78FF-491B-9A24-DF538A0BD17D}">
      <dsp:nvSpPr>
        <dsp:cNvPr id="0" name=""/>
        <dsp:cNvSpPr/>
      </dsp:nvSpPr>
      <dsp:spPr>
        <a:xfrm>
          <a:off x="615026" y="640925"/>
          <a:ext cx="1955038" cy="893658"/>
        </a:xfrm>
        <a:prstGeom prst="roundRect">
          <a:avLst>
            <a:gd name="adj" fmla="val 10000"/>
          </a:avLst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900" kern="1200" noProof="0"/>
            <a:t>October - Nowember: Develop a well-defined finish the research plan, obtain supervisor, gather the necessary data, and determine the initial models and methods to be applied.</a:t>
          </a:r>
          <a:endParaRPr lang="en-US" sz="900" kern="1200" noProof="0" dirty="0"/>
        </a:p>
      </dsp:txBody>
      <dsp:txXfrm>
        <a:off x="641200" y="667099"/>
        <a:ext cx="1902690" cy="841310"/>
      </dsp:txXfrm>
    </dsp:sp>
    <dsp:sp modelId="{D80A1592-6C7A-46AE-99BB-6B47DF968A33}">
      <dsp:nvSpPr>
        <dsp:cNvPr id="0" name=""/>
        <dsp:cNvSpPr/>
      </dsp:nvSpPr>
      <dsp:spPr>
        <a:xfrm>
          <a:off x="2649366" y="417510"/>
          <a:ext cx="2315177" cy="893658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8D75CE99-53E8-426E-95A6-5A594E02245A}">
      <dsp:nvSpPr>
        <dsp:cNvPr id="0" name=""/>
        <dsp:cNvSpPr/>
      </dsp:nvSpPr>
      <dsp:spPr>
        <a:xfrm>
          <a:off x="3266747" y="640925"/>
          <a:ext cx="1955038" cy="893658"/>
        </a:xfrm>
        <a:prstGeom prst="roundRect">
          <a:avLst>
            <a:gd name="adj" fmla="val 10000"/>
          </a:avLst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100" kern="1200"/>
            <a:t>November – December: Produce initial results in the form of a preliminary model and begin drafting the report</a:t>
          </a:r>
          <a:endParaRPr lang="en-US" sz="1100" kern="1200" dirty="0"/>
        </a:p>
      </dsp:txBody>
      <dsp:txXfrm>
        <a:off x="3292921" y="667099"/>
        <a:ext cx="1902690" cy="841310"/>
      </dsp:txXfrm>
    </dsp:sp>
    <dsp:sp modelId="{A5B95BAE-FEDD-4A84-87AB-5734B443709C}">
      <dsp:nvSpPr>
        <dsp:cNvPr id="0" name=""/>
        <dsp:cNvSpPr/>
      </dsp:nvSpPr>
      <dsp:spPr>
        <a:xfrm>
          <a:off x="5293813" y="417510"/>
          <a:ext cx="2315177" cy="893658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2527E485-3EE1-4188-BEEE-8CAA09A5FE6D}">
      <dsp:nvSpPr>
        <dsp:cNvPr id="0" name=""/>
        <dsp:cNvSpPr/>
      </dsp:nvSpPr>
      <dsp:spPr>
        <a:xfrm>
          <a:off x="5911194" y="640925"/>
          <a:ext cx="1955038" cy="893658"/>
        </a:xfrm>
        <a:prstGeom prst="roundRect">
          <a:avLst>
            <a:gd name="adj" fmla="val 10000"/>
          </a:avLst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100" kern="1200"/>
            <a:t>January – March: Finalize modeless and  write some of the thesis</a:t>
          </a:r>
          <a:endParaRPr lang="en-US" sz="1100" kern="1200" dirty="0"/>
        </a:p>
      </dsp:txBody>
      <dsp:txXfrm>
        <a:off x="5937368" y="667099"/>
        <a:ext cx="1902690" cy="841310"/>
      </dsp:txXfrm>
    </dsp:sp>
    <dsp:sp modelId="{DB642533-084E-49D7-ACC0-53A3EA5DC807}">
      <dsp:nvSpPr>
        <dsp:cNvPr id="0" name=""/>
        <dsp:cNvSpPr/>
      </dsp:nvSpPr>
      <dsp:spPr>
        <a:xfrm>
          <a:off x="7938261" y="417510"/>
          <a:ext cx="2315177" cy="893658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A4A8983F-2065-4247-9B84-741C79B6F026}">
      <dsp:nvSpPr>
        <dsp:cNvPr id="0" name=""/>
        <dsp:cNvSpPr/>
      </dsp:nvSpPr>
      <dsp:spPr>
        <a:xfrm>
          <a:off x="8555642" y="640925"/>
          <a:ext cx="1955038" cy="893658"/>
        </a:xfrm>
        <a:prstGeom prst="roundRect">
          <a:avLst>
            <a:gd name="adj" fmla="val 10000"/>
          </a:avLst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9050" cap="flat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100" kern="1200"/>
            <a:t>April - May l: Focus primarily on refining, polishing, and finalizing the thesis.</a:t>
          </a:r>
          <a:endParaRPr lang="en-US" sz="1100" kern="1200" dirty="0"/>
        </a:p>
      </dsp:txBody>
      <dsp:txXfrm>
        <a:off x="8581816" y="667099"/>
        <a:ext cx="1902690" cy="841310"/>
      </dsp:txXfrm>
    </dsp:sp>
  </dsp:spTree>
</dsp:drawing>
</file>

<file path=ppt/diagrams/layout1.xml><?xml version="1.0" encoding="utf-8"?>
<dgm:layoutDef xmlns:dgm="http://purl.oclc.org/ooxml/drawingml/diagram" xmlns:a="http://purl.oclc.org/ooxml/drawingml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purl.oclc.org/ooxml/officeDocument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purl.oclc.org/ooxml/officeDocument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purl.oclc.org/ooxml/officeDocument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purl.oclc.org/ooxml/officeDocument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purl.oclc.org/ooxml/officeDocument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purl.oclc.org/ooxml/officeDocument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purl.oclc.org/ooxml/officeDocument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purl.oclc.org/ooxml/officeDocument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%"/>
          </a:lnSpc>
        </a:lvl1pPr>
        <a:lvl2pPr>
          <a:lnSpc>
            <a:spcPct val="100%"/>
          </a:lnSpc>
        </a:lvl2pPr>
      </dgm1612:lstStyle>
    </a:ext>
  </dgm:extLst>
</dgm:layoutDef>
</file>

<file path=ppt/diagrams/layout2.xml><?xml version="1.0" encoding="utf-8"?>
<dgm:layoutDef xmlns:dgm="http://purl.oclc.org/ooxml/drawingml/diagram" xmlns:a="http://purl.oclc.org/ooxml/drawingml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purl.oclc.org/ooxml/officeDocument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purl.oclc.org/ooxml/officeDocument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purl.oclc.org/ooxml/officeDocument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purl.oclc.org/ooxml/officeDocument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purl.oclc.org/ooxml/officeDocument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purl.oclc.org/ooxml/officeDocument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purl.oclc.org/ooxml/officeDocument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purl.oclc.org/ooxml/officeDocument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purl.oclc.org/ooxml/officeDocument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purl.oclc.org/ooxml/officeDocument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purl.oclc.org/ooxml/officeDocument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purl.oclc.org/ooxml/officeDocument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purl.oclc.org/ooxml/officeDocument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purl.oclc.org/ooxml/officeDocument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purl.oclc.org/ooxml/officeDocument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purl.oclc.org/ooxml/officeDocument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purl.oclc.org/ooxml/officeDocument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purl.oclc.org/ooxml/officeDocument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purl.oclc.org/ooxml/officeDocument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purl.oclc.org/ooxml/officeDocument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purl.oclc.org/ooxml/officeDocument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purl.oclc.org/ooxml/officeDocument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purl.oclc.org/ooxml/officeDocument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purl.oclc.org/ooxml/officeDocument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purl.oclc.org/ooxml/officeDocument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purl.oclc.org/ooxml/officeDocument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purl.oclc.org/ooxml/officeDocument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purl.oclc.org/ooxml/officeDocument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purl.oclc.org/ooxml/officeDocument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purl.oclc.org/ooxml/officeDocument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purl.oclc.org/ooxml/officeDocument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purl.oclc.org/ooxml/officeDocument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purl.oclc.org/ooxml/officeDocument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purl.oclc.org/ooxml/officeDocument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purl.oclc.org/ooxml/officeDocument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purl.oclc.org/ooxml/officeDocument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purl.oclc.org/ooxml/officeDocument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purl.oclc.org/ooxml/officeDocument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purl.oclc.org/ooxml/officeDocument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purl.oclc.org/ooxml/officeDocument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purl.oclc.org/ooxml/officeDocument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purl.oclc.org/ooxml/drawingml/diagram" xmlns:a="http://purl.oclc.org/ooxml/drawingml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purl.oclc.org/ooxml/officeDocument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purl.oclc.org/ooxml/officeDocument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purl.oclc.org/ooxml/officeDocument/relationships" type="chevron" r:blip="">
                <dgm:adjLst>
                  <dgm:adj idx="1" val="0.4"/>
                </dgm:adjLst>
              </dgm:shape>
            </dgm:if>
            <dgm:else name="Name10">
              <dgm:shape xmlns:r="http://purl.oclc.org/ooxml/officeDocument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purl.oclc.org/ooxml/officeDocument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purl.oclc.org/ooxml/officeDocument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2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3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CC5D-624B-0E35-077C-C2A1A6905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D8F04-E603-9F50-E1E6-236FEAC14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4794F-9965-0D69-D7A6-E22E4C01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245D0-A91E-596D-6975-0226CA11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171DA-08EA-EE2B-F5E7-D12C2C3C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04526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ABA90-0A68-1053-2D58-E9A3F028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2F4A1-86E7-4F15-98E4-FE8A54ED2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2CB0-59E9-3006-1FB0-3872B42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5BB16-6C70-443A-2450-7B77D450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17BE-9976-8FBF-3803-71602758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63679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242D-2E4E-BD6F-E532-520B81F84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DC417-386D-E4E7-8F17-A8D16CD09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71865-D4AF-67DC-7BAD-19DDC9C3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E82C7-C8FC-5175-E065-0765A316C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BBEF6-97E0-8656-D6EC-F19B6635D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38146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4D32-CD4A-B879-66DA-F7B2D8E1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E1F8F-6AF5-C7FC-BA20-E2BFE300C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E0234-054E-1464-47FF-E2D4FD254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85E8D-BAB9-1CE9-5C88-3C8B773C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D367A-5E05-0DD9-8EC2-D6D92C42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08042-5258-8975-B2A6-C0B5D331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6872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8D4F-8DA8-D71C-204C-D0EBEFBD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FB01-D417-A9AE-5D86-FBFFBB46D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5015B-8310-121D-812B-E66F56BC9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587A6-6B2A-362A-A0BE-C010F0DF5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7F343-5583-2E9C-1E9D-1B11D8429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7B43F-F056-12D2-525F-BFE5D1CC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C723AC-5463-1880-CCC1-1C998335F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6FD531-753E-6612-28E4-A76A2508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72578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E2C4C-088F-0E61-12A4-5B62D4EA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E195E-6217-6254-14FB-90835F08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96B39-10F7-D40D-0138-55146635E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48759-845F-1BBF-4EF7-9A09BA05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85983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02F4CA-4039-4ED2-963C-C1CC25E4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04C4C-D5D8-AB69-C8CC-F4C1FF8D3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E7BAA-B258-AB34-4117-E67713C5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4465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79F3-2AF0-B42A-553D-C89504B02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0036D-EBD9-EB0A-1AAB-EA032EAE0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AA939-FCE6-87E0-2DEF-96906C7B9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DC910-34BA-D38C-65E4-5BB687C1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D3DC2-C2B5-1C49-383A-9CD5E3A6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04E34-2C0D-D9D9-ADFF-99FD39D9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86116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5A78-3C31-5A9D-CBBD-7BFEB4A31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F9268-F8B4-A74C-7440-61E351467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A803E-EB20-1CE2-4AB9-6B8223BB1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96CA0-6663-F513-04B4-8EA5471F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DE8CD-1687-D87B-D655-43AD1DB7B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956AA-25FD-AACA-3429-F846000C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26908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511CA-27A1-49D2-D017-B47188D2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230EF-DB22-DEA3-DD78-A26301D8B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C42B4-CEAE-F8FD-2A68-6F9ECB046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8E6FF-485A-A8EF-7DEC-A0A70337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295AA-8115-B81D-7E46-12A44F23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1152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9A26FA-951C-3111-200B-19212842A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FFABB-C5E2-96AC-E26A-EDC736ACA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B13C1-ACB7-4F79-5B56-C934B644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BDFAE-8CD0-D5EC-5219-5BFE37BBE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88898-1C3C-8BAC-BB9E-2C868AF5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6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D8DB45-F0E7-B24A-3350-037EC2318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B0C29-8BFB-8354-AF68-6BFF1D62D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8F299-164E-61CB-78B9-F42353E83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0CFD009B-858A-49E8-B108-BE1EC4B6FD4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2DEA4-908B-2415-81B3-7452C17C4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E9249-53EF-3208-438F-F38F021FE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7E864E62-90F1-47C4-9F16-8AA52ABBD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2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%"/>
        </a:lnSpc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%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purl.oclc.org/ooxml/officeDocument/relationships/image" Target="../media/image2.svg"/><Relationship Id="rId2" Type="http://purl.oclc.org/ooxml/officeDocument/relationships/image" Target="../media/image1.png"/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purl.oclc.org/ooxml/officeDocument/relationships/diagramLayout" Target="../diagrams/layout1.xml"/><Relationship Id="rId2" Type="http://purl.oclc.org/ooxml/officeDocument/relationships/diagramData" Target="../diagrams/data1.xml"/><Relationship Id="rId1" Type="http://purl.oclc.org/ooxml/officeDocument/relationships/slideLayout" Target="../slideLayouts/slideLayout2.xml"/><Relationship Id="rId6" Type="http://schemas.microsoft.com/office/2007/relationships/diagramDrawing" Target="../diagrams/drawing1.xml"/><Relationship Id="rId5" Type="http://purl.oclc.org/ooxml/officeDocument/relationships/diagramColors" Target="../diagrams/colors1.xml"/><Relationship Id="rId4" Type="http://purl.oclc.org/ooxml/officeDocument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purl.oclc.org/ooxml/officeDocument/relationships/diagramLayout" Target="../diagrams/layout2.xml"/><Relationship Id="rId2" Type="http://purl.oclc.org/ooxml/officeDocument/relationships/diagramData" Target="../diagrams/data2.xml"/><Relationship Id="rId1" Type="http://purl.oclc.org/ooxml/officeDocument/relationships/slideLayout" Target="../slideLayouts/slideLayout2.xml"/><Relationship Id="rId6" Type="http://schemas.microsoft.com/office/2007/relationships/diagramDrawing" Target="../diagrams/drawing2.xml"/><Relationship Id="rId5" Type="http://purl.oclc.org/ooxml/officeDocument/relationships/diagramColors" Target="../diagrams/colors2.xml"/><Relationship Id="rId4" Type="http://purl.oclc.org/ooxml/officeDocument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purl.oclc.org/ooxml/officeDocument/relationships/image" Target="../media/image9.png"/><Relationship Id="rId1" Type="http://purl.oclc.org/ooxml/officeDocument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purl.oclc.org/ooxml/officeDocument/relationships/diagramLayout" Target="../diagrams/layout3.xml"/><Relationship Id="rId2" Type="http://purl.oclc.org/ooxml/officeDocument/relationships/diagramData" Target="../diagrams/data3.xml"/><Relationship Id="rId1" Type="http://purl.oclc.org/ooxml/officeDocument/relationships/slideLayout" Target="../slideLayouts/slideLayout2.xml"/><Relationship Id="rId6" Type="http://schemas.microsoft.com/office/2007/relationships/diagramDrawing" Target="../diagrams/drawing3.xml"/><Relationship Id="rId5" Type="http://purl.oclc.org/ooxml/officeDocument/relationships/diagramColors" Target="../diagrams/colors3.xml"/><Relationship Id="rId4" Type="http://purl.oclc.org/ooxml/officeDocument/relationships/diagramQuickStyle" Target="../diagrams/quickStyle3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%"/>
              <a:lumOff val="80%"/>
            </a:schemeClr>
          </a:solidFill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10DF85-21CD-5A91-8B7F-9C9C09FE3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608" y="1380564"/>
            <a:ext cx="4561369" cy="2346229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rgbClr val="595959"/>
                </a:solidFill>
              </a:rPr>
              <a:t>News Sentiment and Its Predictive Influence on Sovereign Credit Default Swap Spreads (with the </a:t>
            </a:r>
            <a:r>
              <a:rPr lang="en-US" sz="3200">
                <a:solidFill>
                  <a:srgbClr val="595959"/>
                </a:solidFill>
              </a:rPr>
              <a:t>GDELT database)</a:t>
            </a:r>
            <a:endParaRPr lang="en-US" sz="3200" noProof="0" dirty="0">
              <a:solidFill>
                <a:srgbClr val="595959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820A3-0C69-748A-FD84-A44E4968E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608" y="4061345"/>
            <a:ext cx="4561369" cy="1416090"/>
          </a:xfrm>
        </p:spPr>
        <p:txBody>
          <a:bodyPr anchor="t">
            <a:normAutofit/>
          </a:bodyPr>
          <a:lstStyle/>
          <a:p>
            <a:r>
              <a:rPr lang="en-US" sz="1200" dirty="0">
                <a:solidFill>
                  <a:srgbClr val="595959"/>
                </a:solidFill>
              </a:rPr>
              <a:t>This study investigates the relationship between different forms of news and information data and their influence on Credit Default Swap (CDS) spreads.</a:t>
            </a:r>
          </a:p>
          <a:p>
            <a:r>
              <a:rPr lang="en-US" sz="1200" b="1" dirty="0">
                <a:solidFill>
                  <a:srgbClr val="595959"/>
                </a:solidFill>
              </a:rPr>
              <a:t>Research Question:</a:t>
            </a:r>
            <a:br>
              <a:rPr lang="en-US" sz="1200" dirty="0">
                <a:solidFill>
                  <a:srgbClr val="595959"/>
                </a:solidFill>
              </a:rPr>
            </a:br>
            <a:r>
              <a:rPr lang="en-US" sz="1200" dirty="0">
                <a:solidFill>
                  <a:srgbClr val="595959"/>
                </a:solidFill>
              </a:rPr>
              <a:t>What kinds of news sources, sentiment indices, and event-based information provide predictive insights into CDS spread dynamics?</a:t>
            </a:r>
          </a:p>
        </p:txBody>
      </p:sp>
      <p:pic>
        <p:nvPicPr>
          <p:cNvPr id="19" name="Graphic 18" descr="Money">
            <a:extLst>
              <a:ext uri="{FF2B5EF4-FFF2-40B4-BE49-F238E27FC236}">
                <a16:creationId xmlns:a16="http://schemas.microsoft.com/office/drawing/2014/main" id="{865B5D42-BD05-EB6E-0BF9-3F6AC318C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0935" y="1419785"/>
            <a:ext cx="4018430" cy="401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59598"/>
      </p:ext>
    </p:extLst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6092D-403D-55EC-9A7B-9850E0CD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BFC3F-2EF9-76AE-054E-C7488FBBD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 noProof="0"/>
              <a:t>Data and features</a:t>
            </a:r>
            <a:r>
              <a:rPr lang="sv-FI" sz="5200"/>
              <a:t> </a:t>
            </a:r>
            <a:endParaRPr lang="en-US" sz="5200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04B2FF16-80C4-0CE3-6CF5-3C46C8B5FA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3244459"/>
              </p:ext>
            </p:extLst>
          </p:nvPr>
        </p:nvGraphicFramePr>
        <p:xfrm>
          <a:off x="4848864" y="557189"/>
          <a:ext cx="6703558" cy="6237609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9094197"/>
      </p:ext>
    </p:extLst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>
          <a:extLst>
            <a:ext uri="{FF2B5EF4-FFF2-40B4-BE49-F238E27FC236}">
              <a16:creationId xmlns:a16="http://schemas.microsoft.com/office/drawing/2014/main" id="{BD41F754-400E-4F1F-3FC5-C134F48D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BC26C-DAC9-CE9C-2367-6C69DA9C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329700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noProof="0" dirty="0">
                <a:solidFill>
                  <a:schemeClr val="tx2"/>
                </a:solidFill>
              </a:rPr>
              <a:t>Method and models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0E78E6F0-275B-E1CC-C516-846B694676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337953"/>
              </p:ext>
            </p:extLst>
          </p:nvPr>
        </p:nvGraphicFramePr>
        <p:xfrm>
          <a:off x="1179226" y="1517515"/>
          <a:ext cx="9833548" cy="3336587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7446182"/>
      </p:ext>
    </p:extLst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5C9D46-52B6-9AD0-E06F-42D696086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Data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248DE3-82CF-3393-5B1B-AF56B1933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588858"/>
            <a:ext cx="11548872" cy="323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83489"/>
      </p:ext>
    </p:extLst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>
          <a:extLst>
            <a:ext uri="{FF2B5EF4-FFF2-40B4-BE49-F238E27FC236}">
              <a16:creationId xmlns:a16="http://schemas.microsoft.com/office/drawing/2014/main" id="{8221EAA0-75AC-07A1-7068-ED35AE333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0E0A4-B725-4455-AA14-5E9EEF21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329700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Expected</a:t>
            </a:r>
            <a:r>
              <a:rPr lang="sv-FI" sz="3600">
                <a:solidFill>
                  <a:schemeClr val="tx2"/>
                </a:solidFill>
              </a:rPr>
              <a:t> </a:t>
            </a:r>
            <a:r>
              <a:rPr lang="en-US" sz="3600">
                <a:solidFill>
                  <a:schemeClr val="tx2"/>
                </a:solidFill>
              </a:rPr>
              <a:t>results and </a:t>
            </a:r>
            <a:r>
              <a:rPr lang="en-US" sz="3600"/>
              <a:t>Timeline</a:t>
            </a:r>
            <a:endParaRPr lang="en-US" sz="3600" dirty="0">
              <a:solidFill>
                <a:schemeClr val="tx2"/>
              </a:solidFill>
            </a:endParaRPr>
          </a:p>
        </p:txBody>
      </p:sp>
      <p:graphicFrame>
        <p:nvGraphicFramePr>
          <p:cNvPr id="3" name="Content Placeholder 8">
            <a:extLst>
              <a:ext uri="{FF2B5EF4-FFF2-40B4-BE49-F238E27FC236}">
                <a16:creationId xmlns:a16="http://schemas.microsoft.com/office/drawing/2014/main" id="{4D321BEA-B6C1-4234-0FE2-CB2DFE8BAC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098657"/>
              </p:ext>
            </p:extLst>
          </p:nvPr>
        </p:nvGraphicFramePr>
        <p:xfrm>
          <a:off x="838200" y="4035923"/>
          <a:ext cx="10515600" cy="1952094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CB2E1-6A6D-B3DE-40B5-18B5D7871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797050"/>
            <a:ext cx="10515600" cy="1952094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</p:spPr>
        <p:style>
          <a:lnRef idx="0">
            <a:schemeClr val="accent1">
              <a:hueOff val="0"/>
              <a:satOff val="0%"/>
              <a:lumOff val="0%"/>
              <a:alphaOff val="0%"/>
            </a:schemeClr>
          </a:lnRef>
          <a:fillRef idx="1">
            <a:schemeClr val="accent1">
              <a:tint val="40%"/>
              <a:hueOff val="0"/>
              <a:satOff val="0%"/>
              <a:lumOff val="0%"/>
              <a:alphaOff val="0%"/>
            </a:schemeClr>
          </a:fillRef>
          <a:effectRef idx="0">
            <a:schemeClr val="accent1">
              <a:tint val="40%"/>
              <a:hueOff val="0"/>
              <a:satOff val="0%"/>
              <a:lumOff val="0%"/>
              <a:alphaOff val="0%"/>
            </a:schemeClr>
          </a:effectRef>
          <a:fontRef idx="minor">
            <a:schemeClr val="dk1">
              <a:hueOff val="0"/>
              <a:satOff val="0%"/>
              <a:lumOff val="0%"/>
              <a:alphaOff val="0%"/>
            </a:schemeClr>
          </a:fontRef>
        </p:style>
        <p:txBody>
          <a:bodyPr>
            <a:normAutofit fontScale="77.5%" lnSpcReduction="20%"/>
          </a:bodyPr>
          <a:lstStyle/>
          <a:p>
            <a:pPr marL="0" indent="0">
              <a:buNone/>
            </a:pPr>
            <a:r>
              <a:rPr lang="en-US" sz="3200" noProof="0" dirty="0">
                <a:solidFill>
                  <a:schemeClr val="bg1"/>
                </a:solidFill>
              </a:rPr>
              <a:t>The expected outcome is a report identifying the most effective news indices for predicting CDS spreads. The findings will serve as a feasibility study for implementing models that use daily index data to provide real-time CDS spread pricing. Another objective is to determine whether any of the indices possess longer-term predictive power for CDS spreads.</a:t>
            </a:r>
          </a:p>
        </p:txBody>
      </p:sp>
    </p:spTree>
    <p:extLst>
      <p:ext uri="{BB962C8B-B14F-4D97-AF65-F5344CB8AC3E}">
        <p14:creationId xmlns:p14="http://schemas.microsoft.com/office/powerpoint/2010/main" val="2601805196"/>
      </p:ext>
    </p:extLst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purl.oclc.org/ooxml/officeDocument/extendedProperties" xmlns:vt="http://purl.oclc.org/ooxml/officeDocument/docPropsVTypes">
  <TotalTime>0</TotalTime>
  <Words>374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News Sentiment and Its Predictive Influence on Sovereign Credit Default Swap Spreads (with the GDELT database)</vt:lpstr>
      <vt:lpstr>Data and features </vt:lpstr>
      <vt:lpstr>Method and models</vt:lpstr>
      <vt:lpstr>Example Data </vt:lpstr>
      <vt:lpstr>Expected results and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Rickard Sjöberg</dc:creator>
  <cp:lastModifiedBy>Rickard Sjöberg</cp:lastModifiedBy>
  <cp:revision>45</cp:revision>
  <dcterms:created xsi:type="dcterms:W3CDTF">2025-09-22T17:38:22Z</dcterms:created>
  <dcterms:modified xsi:type="dcterms:W3CDTF">2025-10-27T16:38:52Z</dcterms:modified>
</cp:coreProperties>
</file>