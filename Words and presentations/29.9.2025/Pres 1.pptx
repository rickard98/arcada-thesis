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purl.oclc.org/ooxml/officeDocument/relationships/metadata/thumbnail" Target="docProps/thumbnail.jpeg"/><Relationship Id="rId1" Type="http://purl.oclc.org/ooxml/officeDocument/relationships/officeDocument" Target="ppt/presentation.xml"/><Relationship Id="rId4" Type="http://purl.oclc.org/ooxml/officeDocument/relationships/extendedProperties" Target="docProps/app.xml"/></Relationships>
</file>

<file path=ppt/presentation.xml><?xml version="1.0" encoding="utf-8"?>
<p:presentation xmlns:a="http://purl.oclc.org/ooxml/drawingml/main" xmlns:r="http://purl.oclc.org/ooxml/officeDocument/relationships" xmlns:p="http://purl.oclc.org/ooxml/presentationml/main" saveSubsetFonts="1" conformance="strict">
  <p:sldMasterIdLst>
    <p:sldMasterId id="2147483648" r:id="rId1"/>
  </p:sldMasterIdLst>
  <p:sldIdLst>
    <p:sldId id="256" r:id="rId2"/>
    <p:sldId id="260"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purl.oclc.org/ooxml/drawingml/main" xmlns:r="http://purl.oclc.org/ooxml/officeDocument/relationships" xmlns:p="http://purl.oclc.org/ooxml/presentationml/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purl.oclc.org/ooxml/drawingml/main" def="{5C22544A-7EE6-4342-B048-85BDC9FD1C3A}"/>
</file>

<file path=ppt/viewProps.xml><?xml version="1.0" encoding="utf-8"?>
<p:viewPr xmlns:a="http://purl.oclc.org/ooxml/drawingml/main" xmlns:r="http://purl.oclc.org/ooxml/officeDocument/relationships" xmlns:p="http://purl.oclc.org/ooxml/presentationml/main">
  <p:normalViewPr>
    <p:restoredLeft sz="14.995%" autoAdjust="0"/>
    <p:restoredTop sz="94.66%"/>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purl.oclc.org/ooxml/officeDocument/relationships/tableStyles" Target="tableStyles.xml"/><Relationship Id="rId3" Type="http://purl.oclc.org/ooxml/officeDocument/relationships/slide" Target="slides/slide2.xml"/><Relationship Id="rId7" Type="http://purl.oclc.org/ooxml/officeDocument/relationships/theme" Target="theme/theme1.xml"/><Relationship Id="rId2" Type="http://purl.oclc.org/ooxml/officeDocument/relationships/slide" Target="slides/slide1.xml"/><Relationship Id="rId1" Type="http://purl.oclc.org/ooxml/officeDocument/relationships/slideMaster" Target="slideMasters/slideMaster1.xml"/><Relationship Id="rId6" Type="http://purl.oclc.org/ooxml/officeDocument/relationships/viewProps" Target="viewProps.xml"/><Relationship Id="rId5" Type="http://purl.oclc.org/ooxml/officeDocument/relationships/presProps" Target="presProps.xml"/><Relationship Id="rId4" Type="http://purl.oclc.org/ooxml/officeDocument/relationships/slide" Target="slides/slide3.xml"/></Relationships>
</file>

<file path=ppt/diagrams/_rels/data2.xml.rels><?xml version="1.0" encoding="UTF-8" standalone="yes"?>
<Relationships xmlns="http://schemas.openxmlformats.org/package/2006/relationships"><Relationship Id="rId3" Type="http://purl.oclc.org/ooxml/officeDocument/relationships/image" Target="../media/image5.png"/><Relationship Id="rId2" Type="http://purl.oclc.org/ooxml/officeDocument/relationships/image" Target="../media/image4.svg"/><Relationship Id="rId1" Type="http://purl.oclc.org/ooxml/officeDocument/relationships/image" Target="../media/image3.png"/><Relationship Id="rId4" Type="http://purl.oclc.org/ooxml/officeDocument/relationships/image" Target="../media/image6.svg"/></Relationships>
</file>

<file path=ppt/diagrams/_rels/drawing2.xml.rels><?xml version="1.0" encoding="UTF-8" standalone="yes"?>
<Relationships xmlns="http://schemas.openxmlformats.org/package/2006/relationships"><Relationship Id="rId3" Type="http://purl.oclc.org/ooxml/officeDocument/relationships/image" Target="../media/image5.png"/><Relationship Id="rId2" Type="http://purl.oclc.org/ooxml/officeDocument/relationships/image" Target="../media/image4.svg"/><Relationship Id="rId1" Type="http://purl.oclc.org/ooxml/officeDocument/relationships/image" Target="../media/image3.png"/><Relationship Id="rId4" Type="http://purl.oclc.org/ooxml/officeDocument/relationships/image" Target="../media/image6.svg"/></Relationships>
</file>

<file path=ppt/diagrams/colors1.xml><?xml version="1.0" encoding="utf-8"?>
<dgm:colorsDef xmlns:dgm="http://purl.oclc.org/ooxml/drawingml/diagram" xmlns:a="http://purl.oclc.org/ooxml/drawingml/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
      </a:schemeClr>
    </dgm:fillClrLst>
    <dgm:linClrLst meth="repeat">
      <a:schemeClr val="accent1">
        <a:tint val="60%"/>
      </a:schemeClr>
    </dgm:linClrLst>
    <dgm:effectClrLst/>
    <dgm:txLinClrLst/>
    <dgm:txFillClrLst/>
    <dgm:txEffectClrLst/>
  </dgm:styleLbl>
  <dgm:styleLbl name="fgSibTrans2D1">
    <dgm:fillClrLst meth="repeat">
      <a:schemeClr val="accent1">
        <a:tint val="60%"/>
      </a:schemeClr>
    </dgm:fillClrLst>
    <dgm:linClrLst meth="repeat">
      <a:schemeClr val="accent1">
        <a:tint val="60%"/>
      </a:schemeClr>
    </dgm:linClrLst>
    <dgm:effectClrLst/>
    <dgm:txLinClrLst/>
    <dgm:txFillClrLst/>
    <dgm:txEffectClrLst/>
  </dgm:styleLbl>
  <dgm:styleLbl name="bgSibTrans2D1">
    <dgm:fillClrLst meth="repeat">
      <a:schemeClr val="accent1">
        <a:tint val="60%"/>
      </a:schemeClr>
    </dgm:fillClrLst>
    <dgm:linClrLst meth="repeat">
      <a:schemeClr val="accent1">
        <a:tint val="6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
      </a:schemeClr>
    </dgm:fillClrLst>
    <dgm:linClrLst meth="repeat">
      <a:schemeClr val="accent1">
        <a:tint val="6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
      </a:schemeClr>
    </dgm:linClrLst>
    <dgm:effectClrLst/>
    <dgm:txLinClrLst/>
    <dgm:txFillClrLst meth="repeat">
      <a:schemeClr val="tx1"/>
    </dgm:txFillClrLst>
    <dgm:txEffectClrLst/>
  </dgm:styleLbl>
  <dgm:styleLbl name="fgAcc1">
    <dgm:fillClrLst meth="repeat">
      <a:schemeClr val="lt1">
        <a:alpha val="9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
        <a:tint val="40%"/>
      </a:schemeClr>
    </dgm:fillClrLst>
    <dgm:linClrLst meth="repeat">
      <a:schemeClr val="accent1">
        <a:alpha val="90%"/>
        <a:tint val="40%"/>
      </a:schemeClr>
    </dgm:linClrLst>
    <dgm:effectClrLst/>
    <dgm:txLinClrLst/>
    <dgm:txFillClrLst meth="repeat">
      <a:schemeClr val="dk1"/>
    </dgm:txFillClrLst>
    <dgm:txEffectClrLst/>
  </dgm:styleLbl>
  <dgm:styleLbl name="alignAccFollowNode1">
    <dgm:fillClrLst meth="repeat">
      <a:schemeClr val="accent1">
        <a:alpha val="90%"/>
        <a:tint val="40%"/>
      </a:schemeClr>
    </dgm:fillClrLst>
    <dgm:linClrLst meth="repeat">
      <a:schemeClr val="accent1">
        <a:alpha val="90%"/>
        <a:tint val="40%"/>
      </a:schemeClr>
    </dgm:linClrLst>
    <dgm:effectClrLst/>
    <dgm:txLinClrLst/>
    <dgm:txFillClrLst meth="repeat">
      <a:schemeClr val="dk1"/>
    </dgm:txFillClrLst>
    <dgm:txEffectClrLst/>
  </dgm:styleLbl>
  <dgm:styleLbl name="bgAccFollowNode1">
    <dgm:fillClrLst meth="repeat">
      <a:schemeClr val="accent1">
        <a:alpha val="90%"/>
        <a:tint val="40%"/>
      </a:schemeClr>
    </dgm:fillClrLst>
    <dgm:linClrLst meth="repeat">
      <a:schemeClr val="accent1">
        <a:alpha val="90%"/>
        <a:tint val="40%"/>
      </a:schemeClr>
    </dgm:linClrLst>
    <dgm:effectClrLst/>
    <dgm:txLinClrLst/>
    <dgm:txFillClrLst meth="repeat">
      <a:schemeClr val="dk1"/>
    </dgm:txFillClrLst>
    <dgm:txEffectClrLst/>
  </dgm:styleLbl>
  <dgm:styleLbl name="fgAcc0">
    <dgm:fillClrLst meth="repeat">
      <a:schemeClr val="lt1">
        <a:alpha val="9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
        <a:alpha val="4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purl.oclc.org/ooxml/drawingml/diagram" xmlns:a="http://purl.oclc.org/ooxml/drawingml/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
      </a:schemeClr>
    </dgm:fillClrLst>
    <dgm:linClrLst meth="repeat">
      <a:schemeClr val="accent1">
        <a:tint val="60%"/>
      </a:schemeClr>
    </dgm:linClrLst>
    <dgm:effectClrLst/>
    <dgm:txLinClrLst/>
    <dgm:txFillClrLst/>
    <dgm:txEffectClrLst/>
  </dgm:styleLbl>
  <dgm:styleLbl name="fgSibTrans2D1">
    <dgm:fillClrLst meth="repeat">
      <a:schemeClr val="accent1">
        <a:tint val="60%"/>
      </a:schemeClr>
    </dgm:fillClrLst>
    <dgm:linClrLst meth="repeat">
      <a:schemeClr val="accent1">
        <a:tint val="60%"/>
      </a:schemeClr>
    </dgm:linClrLst>
    <dgm:effectClrLst/>
    <dgm:txLinClrLst/>
    <dgm:txFillClrLst/>
    <dgm:txEffectClrLst/>
  </dgm:styleLbl>
  <dgm:styleLbl name="bgSibTrans2D1">
    <dgm:fillClrLst meth="repeat">
      <a:schemeClr val="accent1">
        <a:tint val="60%"/>
      </a:schemeClr>
    </dgm:fillClrLst>
    <dgm:linClrLst meth="repeat">
      <a:schemeClr val="accent1">
        <a:tint val="6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
      </a:schemeClr>
    </dgm:fillClrLst>
    <dgm:linClrLst meth="repeat">
      <a:schemeClr val="accent1">
        <a:tint val="6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
      </a:schemeClr>
    </dgm:linClrLst>
    <dgm:effectClrLst/>
    <dgm:txLinClrLst/>
    <dgm:txFillClrLst meth="repeat">
      <a:schemeClr val="tx1"/>
    </dgm:txFillClrLst>
    <dgm:txEffectClrLst/>
  </dgm:styleLbl>
  <dgm:styleLbl name="fgAcc1">
    <dgm:fillClrLst meth="repeat">
      <a:schemeClr val="lt1">
        <a:alpha val="9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
        <a:tint val="40%"/>
      </a:schemeClr>
    </dgm:fillClrLst>
    <dgm:linClrLst meth="repeat">
      <a:schemeClr val="accent1">
        <a:alpha val="90%"/>
        <a:tint val="40%"/>
      </a:schemeClr>
    </dgm:linClrLst>
    <dgm:effectClrLst/>
    <dgm:txLinClrLst/>
    <dgm:txFillClrLst meth="repeat">
      <a:schemeClr val="dk1"/>
    </dgm:txFillClrLst>
    <dgm:txEffectClrLst/>
  </dgm:styleLbl>
  <dgm:styleLbl name="alignAccFollowNode1">
    <dgm:fillClrLst meth="repeat">
      <a:schemeClr val="accent1">
        <a:alpha val="90%"/>
        <a:tint val="40%"/>
      </a:schemeClr>
    </dgm:fillClrLst>
    <dgm:linClrLst meth="repeat">
      <a:schemeClr val="accent1">
        <a:alpha val="90%"/>
        <a:tint val="40%"/>
      </a:schemeClr>
    </dgm:linClrLst>
    <dgm:effectClrLst/>
    <dgm:txLinClrLst/>
    <dgm:txFillClrLst meth="repeat">
      <a:schemeClr val="dk1"/>
    </dgm:txFillClrLst>
    <dgm:txEffectClrLst/>
  </dgm:styleLbl>
  <dgm:styleLbl name="bgAccFollowNode1">
    <dgm:fillClrLst meth="repeat">
      <a:schemeClr val="accent1">
        <a:alpha val="90%"/>
        <a:tint val="40%"/>
      </a:schemeClr>
    </dgm:fillClrLst>
    <dgm:linClrLst meth="repeat">
      <a:schemeClr val="accent1">
        <a:alpha val="90%"/>
        <a:tint val="40%"/>
      </a:schemeClr>
    </dgm:linClrLst>
    <dgm:effectClrLst/>
    <dgm:txLinClrLst/>
    <dgm:txFillClrLst meth="repeat">
      <a:schemeClr val="dk1"/>
    </dgm:txFillClrLst>
    <dgm:txEffectClrLst/>
  </dgm:styleLbl>
  <dgm:styleLbl name="fgAcc0">
    <dgm:fillClrLst meth="repeat">
      <a:schemeClr val="lt1">
        <a:alpha val="9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
        <a:alpha val="4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purl.oclc.org/ooxml/drawingml/diagram" xmlns:a="http://purl.oclc.org/ooxml/drawingml/main">
  <dgm:ptLst>
    <dgm:pt modelId="{F1EE5F8A-10AC-4328-8CB7-0457EC5D7581}"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A5170B30-C722-482D-A5FC-8A2A646281FC}">
      <dgm:prSet/>
      <dgm:spPr/>
      <dgm:t>
        <a:bodyPr/>
        <a:lstStyle/>
        <a:p>
          <a:pPr>
            <a:lnSpc>
              <a:spcPct val="100%"/>
            </a:lnSpc>
          </a:pPr>
          <a:r>
            <a:rPr lang="en-US" noProof="0" dirty="0"/>
            <a:t>Relevance: </a:t>
          </a:r>
          <a:r>
            <a:rPr lang="en-US" dirty="0"/>
            <a:t>CDS on companies, sovereigns, and indices are key derivatives used for hedging, speculation, managing credit risk, and signaling financial health. Their spreads depend on entity-specific factors and broader conditions, such as risk-free rates. For sovereign CDS, a country’s economic state is crucial, making macroeconomic news highly relevant for predicting spreads.</a:t>
          </a:r>
        </a:p>
      </dgm:t>
    </dgm:pt>
    <dgm:pt modelId="{DCF08AF8-190B-4F56-B6CB-CEF24E364B7C}" type="parTrans" cxnId="{2D9FEDD8-23A1-4F48-9307-3F1702CABB30}">
      <dgm:prSet/>
      <dgm:spPr/>
      <dgm:t>
        <a:bodyPr/>
        <a:lstStyle/>
        <a:p>
          <a:endParaRPr lang="en-US"/>
        </a:p>
      </dgm:t>
    </dgm:pt>
    <dgm:pt modelId="{16CBBBF5-7D5D-4E6D-AECC-29FFCB2094F2}" type="sibTrans" cxnId="{2D9FEDD8-23A1-4F48-9307-3F1702CABB30}">
      <dgm:prSet/>
      <dgm:spPr/>
      <dgm:t>
        <a:bodyPr/>
        <a:lstStyle/>
        <a:p>
          <a:endParaRPr lang="en-US"/>
        </a:p>
      </dgm:t>
    </dgm:pt>
    <dgm:pt modelId="{ECFFB460-C169-4E98-B5E1-43F9DC1CF873}">
      <dgm:prSet/>
      <dgm:spPr/>
      <dgm:t>
        <a:bodyPr/>
        <a:lstStyle/>
        <a:p>
          <a:pPr>
            <a:lnSpc>
              <a:spcPct val="100%"/>
            </a:lnSpc>
          </a:pPr>
          <a:r>
            <a:rPr lang="en-US" noProof="0" dirty="0"/>
            <a:t>Two core references:</a:t>
          </a:r>
        </a:p>
        <a:p>
          <a:pPr>
            <a:lnSpc>
              <a:spcPct val="100%"/>
            </a:lnSpc>
            <a:buFont typeface="+mj-lt"/>
            <a:buAutoNum type="arabicPeriod"/>
          </a:pPr>
          <a:r>
            <a:rPr lang="en-US" dirty="0"/>
            <a:t>Dim et.al. (2021) Hot off the press: News-implied sovereign default risk. </a:t>
          </a:r>
        </a:p>
        <a:p>
          <a:pPr>
            <a:lnSpc>
              <a:spcPct val="100%"/>
            </a:lnSpc>
            <a:buFont typeface="+mj-lt"/>
            <a:buAutoNum type="arabicPeriod"/>
          </a:pPr>
          <a:r>
            <a:rPr lang="en-US" dirty="0"/>
            <a:t>Mao et al. (2023) Forecasting and trading credit default swap indices using a deep learning model integrating Merton and LSTMs</a:t>
          </a:r>
        </a:p>
      </dgm:t>
    </dgm:pt>
    <dgm:pt modelId="{663B2286-5B6E-4E1F-BAD4-3054F6F5EB08}" type="parTrans" cxnId="{6DAB0F86-0262-4E80-A930-FE56BE293AB1}">
      <dgm:prSet/>
      <dgm:spPr/>
      <dgm:t>
        <a:bodyPr/>
        <a:lstStyle/>
        <a:p>
          <a:endParaRPr lang="en-US"/>
        </a:p>
      </dgm:t>
    </dgm:pt>
    <dgm:pt modelId="{4696B38A-DFFE-48BE-A2E0-7B79EC0494A3}" type="sibTrans" cxnId="{6DAB0F86-0262-4E80-A930-FE56BE293AB1}">
      <dgm:prSet/>
      <dgm:spPr/>
      <dgm:t>
        <a:bodyPr/>
        <a:lstStyle/>
        <a:p>
          <a:endParaRPr lang="en-US"/>
        </a:p>
      </dgm:t>
    </dgm:pt>
    <dgm:pt modelId="{2E14034D-AAEB-4918-A6F0-D9D6F63CE9D2}" type="pres">
      <dgm:prSet presAssocID="{F1EE5F8A-10AC-4328-8CB7-0457EC5D7581}" presName="outerComposite" presStyleCnt="0">
        <dgm:presLayoutVars>
          <dgm:chMax val="5"/>
          <dgm:dir/>
          <dgm:resizeHandles val="exact"/>
        </dgm:presLayoutVars>
      </dgm:prSet>
      <dgm:spPr/>
    </dgm:pt>
    <dgm:pt modelId="{C18FF953-CF79-4756-AA71-6F494482AEEC}" type="pres">
      <dgm:prSet presAssocID="{F1EE5F8A-10AC-4328-8CB7-0457EC5D7581}" presName="dummyMaxCanvas" presStyleCnt="0">
        <dgm:presLayoutVars/>
      </dgm:prSet>
      <dgm:spPr/>
    </dgm:pt>
    <dgm:pt modelId="{D93EFF97-4AB1-4191-8EB6-F7E720DB3CB7}" type="pres">
      <dgm:prSet presAssocID="{F1EE5F8A-10AC-4328-8CB7-0457EC5D7581}" presName="TwoNodes_1" presStyleLbl="node1" presStyleIdx="0" presStyleCnt="2">
        <dgm:presLayoutVars>
          <dgm:bulletEnabled val="1"/>
        </dgm:presLayoutVars>
      </dgm:prSet>
      <dgm:spPr/>
    </dgm:pt>
    <dgm:pt modelId="{3A80E196-CEAE-448B-9483-375908ACDDA6}" type="pres">
      <dgm:prSet presAssocID="{F1EE5F8A-10AC-4328-8CB7-0457EC5D7581}" presName="TwoNodes_2" presStyleLbl="node1" presStyleIdx="1" presStyleCnt="2">
        <dgm:presLayoutVars>
          <dgm:bulletEnabled val="1"/>
        </dgm:presLayoutVars>
      </dgm:prSet>
      <dgm:spPr/>
    </dgm:pt>
    <dgm:pt modelId="{E89556CF-0866-47FD-BA87-567267F5F8D3}" type="pres">
      <dgm:prSet presAssocID="{F1EE5F8A-10AC-4328-8CB7-0457EC5D7581}" presName="TwoConn_1-2" presStyleLbl="fgAccFollowNode1" presStyleIdx="0" presStyleCnt="1">
        <dgm:presLayoutVars>
          <dgm:bulletEnabled val="1"/>
        </dgm:presLayoutVars>
      </dgm:prSet>
      <dgm:spPr/>
    </dgm:pt>
    <dgm:pt modelId="{0EC18242-AC8B-4BBE-9B63-6BFAC00272F8}" type="pres">
      <dgm:prSet presAssocID="{F1EE5F8A-10AC-4328-8CB7-0457EC5D7581}" presName="TwoNodes_1_text" presStyleLbl="node1" presStyleIdx="1" presStyleCnt="2">
        <dgm:presLayoutVars>
          <dgm:bulletEnabled val="1"/>
        </dgm:presLayoutVars>
      </dgm:prSet>
      <dgm:spPr/>
    </dgm:pt>
    <dgm:pt modelId="{A661FE06-71FF-4261-84DD-65E69AD6013A}" type="pres">
      <dgm:prSet presAssocID="{F1EE5F8A-10AC-4328-8CB7-0457EC5D7581}" presName="TwoNodes_2_text" presStyleLbl="node1" presStyleIdx="1" presStyleCnt="2">
        <dgm:presLayoutVars>
          <dgm:bulletEnabled val="1"/>
        </dgm:presLayoutVars>
      </dgm:prSet>
      <dgm:spPr/>
    </dgm:pt>
  </dgm:ptLst>
  <dgm:cxnLst>
    <dgm:cxn modelId="{0AB7FF02-0E33-43CD-8874-2018497BF513}" type="presOf" srcId="{ECFFB460-C169-4E98-B5E1-43F9DC1CF873}" destId="{3A80E196-CEAE-448B-9483-375908ACDDA6}" srcOrd="0" destOrd="0" presId="urn:microsoft.com/office/officeart/2005/8/layout/vProcess5"/>
    <dgm:cxn modelId="{172BC137-9E72-469B-AD6E-C79C6ECE3C91}" type="presOf" srcId="{A5170B30-C722-482D-A5FC-8A2A646281FC}" destId="{0EC18242-AC8B-4BBE-9B63-6BFAC00272F8}" srcOrd="1" destOrd="0" presId="urn:microsoft.com/office/officeart/2005/8/layout/vProcess5"/>
    <dgm:cxn modelId="{6DAB0F86-0262-4E80-A930-FE56BE293AB1}" srcId="{F1EE5F8A-10AC-4328-8CB7-0457EC5D7581}" destId="{ECFFB460-C169-4E98-B5E1-43F9DC1CF873}" srcOrd="1" destOrd="0" parTransId="{663B2286-5B6E-4E1F-BAD4-3054F6F5EB08}" sibTransId="{4696B38A-DFFE-48BE-A2E0-7B79EC0494A3}"/>
    <dgm:cxn modelId="{5651A8B3-8E86-4161-8543-28FF202780D6}" type="presOf" srcId="{F1EE5F8A-10AC-4328-8CB7-0457EC5D7581}" destId="{2E14034D-AAEB-4918-A6F0-D9D6F63CE9D2}" srcOrd="0" destOrd="0" presId="urn:microsoft.com/office/officeart/2005/8/layout/vProcess5"/>
    <dgm:cxn modelId="{E2B6C8CC-5A0F-4820-A109-BA22673C0356}" type="presOf" srcId="{A5170B30-C722-482D-A5FC-8A2A646281FC}" destId="{D93EFF97-4AB1-4191-8EB6-F7E720DB3CB7}" srcOrd="0" destOrd="0" presId="urn:microsoft.com/office/officeart/2005/8/layout/vProcess5"/>
    <dgm:cxn modelId="{2D9FEDD8-23A1-4F48-9307-3F1702CABB30}" srcId="{F1EE5F8A-10AC-4328-8CB7-0457EC5D7581}" destId="{A5170B30-C722-482D-A5FC-8A2A646281FC}" srcOrd="0" destOrd="0" parTransId="{DCF08AF8-190B-4F56-B6CB-CEF24E364B7C}" sibTransId="{16CBBBF5-7D5D-4E6D-AECC-29FFCB2094F2}"/>
    <dgm:cxn modelId="{17072BEE-F3B5-4C2C-B547-1186F64EE351}" type="presOf" srcId="{ECFFB460-C169-4E98-B5E1-43F9DC1CF873}" destId="{A661FE06-71FF-4261-84DD-65E69AD6013A}" srcOrd="1" destOrd="0" presId="urn:microsoft.com/office/officeart/2005/8/layout/vProcess5"/>
    <dgm:cxn modelId="{BDA67FF0-E4F5-4221-8DA3-83BAB74545F5}" type="presOf" srcId="{16CBBBF5-7D5D-4E6D-AECC-29FFCB2094F2}" destId="{E89556CF-0866-47FD-BA87-567267F5F8D3}" srcOrd="0" destOrd="0" presId="urn:microsoft.com/office/officeart/2005/8/layout/vProcess5"/>
    <dgm:cxn modelId="{2F98F780-EBD1-4FF3-B3E3-F09D0874E211}" type="presParOf" srcId="{2E14034D-AAEB-4918-A6F0-D9D6F63CE9D2}" destId="{C18FF953-CF79-4756-AA71-6F494482AEEC}" srcOrd="0" destOrd="0" presId="urn:microsoft.com/office/officeart/2005/8/layout/vProcess5"/>
    <dgm:cxn modelId="{2854118C-251D-49EF-A4B8-96BB75CB4AAD}" type="presParOf" srcId="{2E14034D-AAEB-4918-A6F0-D9D6F63CE9D2}" destId="{D93EFF97-4AB1-4191-8EB6-F7E720DB3CB7}" srcOrd="1" destOrd="0" presId="urn:microsoft.com/office/officeart/2005/8/layout/vProcess5"/>
    <dgm:cxn modelId="{166A66F2-D4BD-490C-A0DE-74D7A181B0AD}" type="presParOf" srcId="{2E14034D-AAEB-4918-A6F0-D9D6F63CE9D2}" destId="{3A80E196-CEAE-448B-9483-375908ACDDA6}" srcOrd="2" destOrd="0" presId="urn:microsoft.com/office/officeart/2005/8/layout/vProcess5"/>
    <dgm:cxn modelId="{B85C8A92-DC84-4A18-B4FD-4571E593B220}" type="presParOf" srcId="{2E14034D-AAEB-4918-A6F0-D9D6F63CE9D2}" destId="{E89556CF-0866-47FD-BA87-567267F5F8D3}" srcOrd="3" destOrd="0" presId="urn:microsoft.com/office/officeart/2005/8/layout/vProcess5"/>
    <dgm:cxn modelId="{4E0BAC58-7486-415B-8CCE-A5D69D717F93}" type="presParOf" srcId="{2E14034D-AAEB-4918-A6F0-D9D6F63CE9D2}" destId="{0EC18242-AC8B-4BBE-9B63-6BFAC00272F8}" srcOrd="4" destOrd="0" presId="urn:microsoft.com/office/officeart/2005/8/layout/vProcess5"/>
    <dgm:cxn modelId="{67B4904B-52C3-4FF1-8234-F5A1B7054E26}" type="presParOf" srcId="{2E14034D-AAEB-4918-A6F0-D9D6F63CE9D2}" destId="{A661FE06-71FF-4261-84DD-65E69AD6013A}"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purl.oclc.org/ooxml/drawingml/diagram" xmlns:a="http://purl.oclc.org/ooxml/drawingml/main">
  <dgm:ptLst>
    <dgm:pt modelId="{F1EE5F8A-10AC-4328-8CB7-0457EC5D758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5170B30-C722-482D-A5FC-8A2A646281FC}">
      <dgm:prSet/>
      <dgm:spPr/>
      <dgm:t>
        <a:bodyPr/>
        <a:lstStyle/>
        <a:p>
          <a:pPr>
            <a:lnSpc>
              <a:spcPct val="100%"/>
            </a:lnSpc>
          </a:pPr>
          <a:r>
            <a:rPr lang="en-US" dirty="0"/>
            <a:t>Research question: Can NLP be applied to conduct sentiment analysis on textual and economic data to help predict a country’s economic developments, by using credit default swap spread as a </a:t>
          </a:r>
          <a:r>
            <a:rPr lang="en-US" dirty="0" err="1"/>
            <a:t>proxie</a:t>
          </a:r>
          <a:r>
            <a:rPr lang="en-US" dirty="0"/>
            <a:t> fore its economical health?</a:t>
          </a:r>
        </a:p>
      </dgm:t>
    </dgm:pt>
    <dgm:pt modelId="{DCF08AF8-190B-4F56-B6CB-CEF24E364B7C}" type="parTrans" cxnId="{2D9FEDD8-23A1-4F48-9307-3F1702CABB30}">
      <dgm:prSet/>
      <dgm:spPr/>
      <dgm:t>
        <a:bodyPr/>
        <a:lstStyle/>
        <a:p>
          <a:endParaRPr lang="en-US"/>
        </a:p>
      </dgm:t>
    </dgm:pt>
    <dgm:pt modelId="{16CBBBF5-7D5D-4E6D-AECC-29FFCB2094F2}" type="sibTrans" cxnId="{2D9FEDD8-23A1-4F48-9307-3F1702CABB30}">
      <dgm:prSet/>
      <dgm:spPr/>
      <dgm:t>
        <a:bodyPr/>
        <a:lstStyle/>
        <a:p>
          <a:endParaRPr lang="en-US"/>
        </a:p>
      </dgm:t>
    </dgm:pt>
    <dgm:pt modelId="{ECFFB460-C169-4E98-B5E1-43F9DC1CF873}">
      <dgm:prSet/>
      <dgm:spPr/>
      <dgm:t>
        <a:bodyPr/>
        <a:lstStyle/>
        <a:p>
          <a:pPr>
            <a:lnSpc>
              <a:spcPct val="100%"/>
            </a:lnSpc>
          </a:pPr>
          <a:r>
            <a:rPr lang="en-US" dirty="0"/>
            <a:t>Main hypothesis: Macroeconomic news is expected to enhance the accuracy of ML/DL model predictions of sovereign or index CDS spreads.</a:t>
          </a:r>
        </a:p>
      </dgm:t>
    </dgm:pt>
    <dgm:pt modelId="{663B2286-5B6E-4E1F-BAD4-3054F6F5EB08}" type="parTrans" cxnId="{6DAB0F86-0262-4E80-A930-FE56BE293AB1}">
      <dgm:prSet/>
      <dgm:spPr/>
      <dgm:t>
        <a:bodyPr/>
        <a:lstStyle/>
        <a:p>
          <a:endParaRPr lang="en-US"/>
        </a:p>
      </dgm:t>
    </dgm:pt>
    <dgm:pt modelId="{4696B38A-DFFE-48BE-A2E0-7B79EC0494A3}" type="sibTrans" cxnId="{6DAB0F86-0262-4E80-A930-FE56BE293AB1}">
      <dgm:prSet/>
      <dgm:spPr/>
      <dgm:t>
        <a:bodyPr/>
        <a:lstStyle/>
        <a:p>
          <a:endParaRPr lang="en-US"/>
        </a:p>
      </dgm:t>
    </dgm:pt>
    <dgm:pt modelId="{FF899240-409E-4612-B618-185691D2230B}" type="pres">
      <dgm:prSet presAssocID="{F1EE5F8A-10AC-4328-8CB7-0457EC5D7581}" presName="root" presStyleCnt="0">
        <dgm:presLayoutVars>
          <dgm:dir/>
          <dgm:resizeHandles val="exact"/>
        </dgm:presLayoutVars>
      </dgm:prSet>
      <dgm:spPr/>
    </dgm:pt>
    <dgm:pt modelId="{0E9DE288-C3FA-4CF0-972D-422C1F12DF48}" type="pres">
      <dgm:prSet presAssocID="{A5170B30-C722-482D-A5FC-8A2A646281FC}" presName="compNode" presStyleCnt="0"/>
      <dgm:spPr/>
    </dgm:pt>
    <dgm:pt modelId="{AF29942C-C5C5-41D2-B6EA-7515BF24D032}" type="pres">
      <dgm:prSet presAssocID="{A5170B30-C722-482D-A5FC-8A2A646281FC}" presName="bgRect" presStyleLbl="bgShp" presStyleIdx="0" presStyleCnt="2"/>
      <dgm:spPr/>
    </dgm:pt>
    <dgm:pt modelId="{619DC583-6658-457E-B3A8-12C551C05850}" type="pres">
      <dgm:prSet presAssocID="{A5170B30-C722-482D-A5FC-8A2A646281FC}" presName="iconRect" presStyleLbl="node1" presStyleIdx="0" presStyleCnt="2"/>
      <dgm:spPr>
        <a:blipFill>
          <a:blip xmlns:r="http://purl.oclc.org/ooxml/officeDocument/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8ABA6523-7E0D-4F65-B473-8343FF8CB27A}" type="pres">
      <dgm:prSet presAssocID="{A5170B30-C722-482D-A5FC-8A2A646281FC}" presName="spaceRect" presStyleCnt="0"/>
      <dgm:spPr/>
    </dgm:pt>
    <dgm:pt modelId="{0E2EAD70-D41A-454A-86AD-9DCD8400C89F}" type="pres">
      <dgm:prSet presAssocID="{A5170B30-C722-482D-A5FC-8A2A646281FC}" presName="parTx" presStyleLbl="revTx" presStyleIdx="0" presStyleCnt="2">
        <dgm:presLayoutVars>
          <dgm:chMax val="0"/>
          <dgm:chPref val="0"/>
        </dgm:presLayoutVars>
      </dgm:prSet>
      <dgm:spPr/>
    </dgm:pt>
    <dgm:pt modelId="{7CA06D2E-590F-4DA5-8214-F746DAB8923E}" type="pres">
      <dgm:prSet presAssocID="{16CBBBF5-7D5D-4E6D-AECC-29FFCB2094F2}" presName="sibTrans" presStyleCnt="0"/>
      <dgm:spPr/>
    </dgm:pt>
    <dgm:pt modelId="{1070B1B9-8F65-473E-AA2D-663A3BD26EE1}" type="pres">
      <dgm:prSet presAssocID="{ECFFB460-C169-4E98-B5E1-43F9DC1CF873}" presName="compNode" presStyleCnt="0"/>
      <dgm:spPr/>
    </dgm:pt>
    <dgm:pt modelId="{657A53DA-8991-4F14-B9E4-F00A6AF09DB6}" type="pres">
      <dgm:prSet presAssocID="{ECFFB460-C169-4E98-B5E1-43F9DC1CF873}" presName="bgRect" presStyleLbl="bgShp" presStyleIdx="1" presStyleCnt="2"/>
      <dgm:spPr/>
    </dgm:pt>
    <dgm:pt modelId="{C9A7BD09-D17F-4CE8-94D9-F431CDD5BEC3}" type="pres">
      <dgm:prSet presAssocID="{ECFFB460-C169-4E98-B5E1-43F9DC1CF873}" presName="iconRect" presStyleLbl="node1" presStyleIdx="1" presStyleCnt="2"/>
      <dgm:spPr>
        <a:blipFill>
          <a:blip xmlns:r="http://purl.oclc.org/ooxml/officeDocument/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Newspaper"/>
        </a:ext>
      </dgm:extLst>
    </dgm:pt>
    <dgm:pt modelId="{F3520CC6-9BB4-4D37-AD74-A0E55805D983}" type="pres">
      <dgm:prSet presAssocID="{ECFFB460-C169-4E98-B5E1-43F9DC1CF873}" presName="spaceRect" presStyleCnt="0"/>
      <dgm:spPr/>
    </dgm:pt>
    <dgm:pt modelId="{E7293CB9-0B4B-44BE-AB40-9AE1E0BB99CD}" type="pres">
      <dgm:prSet presAssocID="{ECFFB460-C169-4E98-B5E1-43F9DC1CF873}" presName="parTx" presStyleLbl="revTx" presStyleIdx="1" presStyleCnt="2">
        <dgm:presLayoutVars>
          <dgm:chMax val="0"/>
          <dgm:chPref val="0"/>
        </dgm:presLayoutVars>
      </dgm:prSet>
      <dgm:spPr/>
    </dgm:pt>
  </dgm:ptLst>
  <dgm:cxnLst>
    <dgm:cxn modelId="{C5379E06-1313-49D6-A2A4-7E6177D7B612}" type="presOf" srcId="{A5170B30-C722-482D-A5FC-8A2A646281FC}" destId="{0E2EAD70-D41A-454A-86AD-9DCD8400C89F}" srcOrd="0" destOrd="0" presId="urn:microsoft.com/office/officeart/2018/2/layout/IconVerticalSolidList"/>
    <dgm:cxn modelId="{16C3162A-00BE-454D-B836-07B5D4E046D9}" type="presOf" srcId="{ECFFB460-C169-4E98-B5E1-43F9DC1CF873}" destId="{E7293CB9-0B4B-44BE-AB40-9AE1E0BB99CD}" srcOrd="0" destOrd="0" presId="urn:microsoft.com/office/officeart/2018/2/layout/IconVerticalSolidList"/>
    <dgm:cxn modelId="{6DAB0F86-0262-4E80-A930-FE56BE293AB1}" srcId="{F1EE5F8A-10AC-4328-8CB7-0457EC5D7581}" destId="{ECFFB460-C169-4E98-B5E1-43F9DC1CF873}" srcOrd="1" destOrd="0" parTransId="{663B2286-5B6E-4E1F-BAD4-3054F6F5EB08}" sibTransId="{4696B38A-DFFE-48BE-A2E0-7B79EC0494A3}"/>
    <dgm:cxn modelId="{0205A8D7-890A-41E4-9C3B-959926F74433}" type="presOf" srcId="{F1EE5F8A-10AC-4328-8CB7-0457EC5D7581}" destId="{FF899240-409E-4612-B618-185691D2230B}" srcOrd="0" destOrd="0" presId="urn:microsoft.com/office/officeart/2018/2/layout/IconVerticalSolidList"/>
    <dgm:cxn modelId="{2D9FEDD8-23A1-4F48-9307-3F1702CABB30}" srcId="{F1EE5F8A-10AC-4328-8CB7-0457EC5D7581}" destId="{A5170B30-C722-482D-A5FC-8A2A646281FC}" srcOrd="0" destOrd="0" parTransId="{DCF08AF8-190B-4F56-B6CB-CEF24E364B7C}" sibTransId="{16CBBBF5-7D5D-4E6D-AECC-29FFCB2094F2}"/>
    <dgm:cxn modelId="{42E21263-3BCB-46E0-90F7-28311BCB9D99}" type="presParOf" srcId="{FF899240-409E-4612-B618-185691D2230B}" destId="{0E9DE288-C3FA-4CF0-972D-422C1F12DF48}" srcOrd="0" destOrd="0" presId="urn:microsoft.com/office/officeart/2018/2/layout/IconVerticalSolidList"/>
    <dgm:cxn modelId="{E774A45D-CFC1-4867-9D50-8404FFBE2689}" type="presParOf" srcId="{0E9DE288-C3FA-4CF0-972D-422C1F12DF48}" destId="{AF29942C-C5C5-41D2-B6EA-7515BF24D032}" srcOrd="0" destOrd="0" presId="urn:microsoft.com/office/officeart/2018/2/layout/IconVerticalSolidList"/>
    <dgm:cxn modelId="{DB8EBA75-6439-483B-934D-6DB468E16C11}" type="presParOf" srcId="{0E9DE288-C3FA-4CF0-972D-422C1F12DF48}" destId="{619DC583-6658-457E-B3A8-12C551C05850}" srcOrd="1" destOrd="0" presId="urn:microsoft.com/office/officeart/2018/2/layout/IconVerticalSolidList"/>
    <dgm:cxn modelId="{5B27E981-FFEF-497A-841B-DB50BB3DC7BD}" type="presParOf" srcId="{0E9DE288-C3FA-4CF0-972D-422C1F12DF48}" destId="{8ABA6523-7E0D-4F65-B473-8343FF8CB27A}" srcOrd="2" destOrd="0" presId="urn:microsoft.com/office/officeart/2018/2/layout/IconVerticalSolidList"/>
    <dgm:cxn modelId="{7C46D197-D529-4BF8-9E09-D80BFCFD97C8}" type="presParOf" srcId="{0E9DE288-C3FA-4CF0-972D-422C1F12DF48}" destId="{0E2EAD70-D41A-454A-86AD-9DCD8400C89F}" srcOrd="3" destOrd="0" presId="urn:microsoft.com/office/officeart/2018/2/layout/IconVerticalSolidList"/>
    <dgm:cxn modelId="{42B0AC31-B34A-4A1F-9762-6B99497A4AE5}" type="presParOf" srcId="{FF899240-409E-4612-B618-185691D2230B}" destId="{7CA06D2E-590F-4DA5-8214-F746DAB8923E}" srcOrd="1" destOrd="0" presId="urn:microsoft.com/office/officeart/2018/2/layout/IconVerticalSolidList"/>
    <dgm:cxn modelId="{A938937D-C4D0-4FCC-8F69-4FA8EA5098DA}" type="presParOf" srcId="{FF899240-409E-4612-B618-185691D2230B}" destId="{1070B1B9-8F65-473E-AA2D-663A3BD26EE1}" srcOrd="2" destOrd="0" presId="urn:microsoft.com/office/officeart/2018/2/layout/IconVerticalSolidList"/>
    <dgm:cxn modelId="{BB40D0A7-9A22-435B-9136-08B2664EC7F2}" type="presParOf" srcId="{1070B1B9-8F65-473E-AA2D-663A3BD26EE1}" destId="{657A53DA-8991-4F14-B9E4-F00A6AF09DB6}" srcOrd="0" destOrd="0" presId="urn:microsoft.com/office/officeart/2018/2/layout/IconVerticalSolidList"/>
    <dgm:cxn modelId="{85CC7230-E5CB-4A15-969D-7575726416A0}" type="presParOf" srcId="{1070B1B9-8F65-473E-AA2D-663A3BD26EE1}" destId="{C9A7BD09-D17F-4CE8-94D9-F431CDD5BEC3}" srcOrd="1" destOrd="0" presId="urn:microsoft.com/office/officeart/2018/2/layout/IconVerticalSolidList"/>
    <dgm:cxn modelId="{7314E57C-7CD5-41D2-9731-77BB02506636}" type="presParOf" srcId="{1070B1B9-8F65-473E-AA2D-663A3BD26EE1}" destId="{F3520CC6-9BB4-4D37-AD74-A0E55805D983}" srcOrd="2" destOrd="0" presId="urn:microsoft.com/office/officeart/2018/2/layout/IconVerticalSolidList"/>
    <dgm:cxn modelId="{1EBC91F8-7AEE-4B73-B711-9EB538AADB73}" type="presParOf" srcId="{1070B1B9-8F65-473E-AA2D-663A3BD26EE1}" destId="{E7293CB9-0B4B-44BE-AB40-9AE1E0BB99C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purl.oclc.org/ooxml/drawingml/diagram" xmlns:dsp="http://schemas.microsoft.com/office/drawing/2008/diagram" xmlns:a="http://purl.oclc.org/ooxml/drawingml/main">
  <dsp:spTree>
    <dsp:nvGrpSpPr>
      <dsp:cNvPr id="0" name=""/>
      <dsp:cNvGrpSpPr/>
    </dsp:nvGrpSpPr>
    <dsp:grpSpPr/>
    <dsp:sp modelId="{D93EFF97-4AB1-4191-8EB6-F7E720DB3CB7}">
      <dsp:nvSpPr>
        <dsp:cNvPr id="0" name=""/>
        <dsp:cNvSpPr/>
      </dsp:nvSpPr>
      <dsp:spPr>
        <a:xfrm>
          <a:off x="0" y="0"/>
          <a:ext cx="8358515" cy="15014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100%"/>
            </a:lnSpc>
            <a:spcBef>
              <a:spcPct val="0%"/>
            </a:spcBef>
            <a:spcAft>
              <a:spcPct val="35%"/>
            </a:spcAft>
            <a:buNone/>
          </a:pPr>
          <a:r>
            <a:rPr lang="en-US" sz="1400" kern="1200" noProof="0" dirty="0"/>
            <a:t>Relevance: </a:t>
          </a:r>
          <a:r>
            <a:rPr lang="en-US" sz="1400" kern="1200" dirty="0"/>
            <a:t>CDS on companies, sovereigns, and indices are key derivatives used for hedging, speculation, managing credit risk, and signaling financial health. Their spreads depend on entity-specific factors and broader conditions, such as risk-free rates. For sovereign CDS, a country’s economic state is crucial, making macroeconomic news highly relevant for predicting spreads.</a:t>
          </a:r>
        </a:p>
      </dsp:txBody>
      <dsp:txXfrm>
        <a:off x="43976" y="43976"/>
        <a:ext cx="6806636" cy="1413512"/>
      </dsp:txXfrm>
    </dsp:sp>
    <dsp:sp modelId="{3A80E196-CEAE-448B-9483-375908ACDDA6}">
      <dsp:nvSpPr>
        <dsp:cNvPr id="0" name=""/>
        <dsp:cNvSpPr/>
      </dsp:nvSpPr>
      <dsp:spPr>
        <a:xfrm>
          <a:off x="1475032" y="1835122"/>
          <a:ext cx="8358515" cy="15014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100%"/>
            </a:lnSpc>
            <a:spcBef>
              <a:spcPct val="0%"/>
            </a:spcBef>
            <a:spcAft>
              <a:spcPct val="35%"/>
            </a:spcAft>
            <a:buNone/>
          </a:pPr>
          <a:r>
            <a:rPr lang="en-US" sz="1400" kern="1200" noProof="0" dirty="0"/>
            <a:t>Two core references:</a:t>
          </a:r>
        </a:p>
        <a:p>
          <a:pPr marL="0" lvl="0" indent="0" algn="l" defTabSz="622300">
            <a:lnSpc>
              <a:spcPct val="100%"/>
            </a:lnSpc>
            <a:spcBef>
              <a:spcPct val="0%"/>
            </a:spcBef>
            <a:spcAft>
              <a:spcPct val="35%"/>
            </a:spcAft>
            <a:buFont typeface="+mj-lt"/>
            <a:buNone/>
          </a:pPr>
          <a:r>
            <a:rPr lang="en-US" sz="1400" kern="1200" dirty="0"/>
            <a:t>Dim et.al. (2021) Hot off the press: News-implied sovereign default risk. </a:t>
          </a:r>
        </a:p>
        <a:p>
          <a:pPr marL="0" lvl="0" indent="0" algn="l" defTabSz="622300">
            <a:lnSpc>
              <a:spcPct val="100%"/>
            </a:lnSpc>
            <a:spcBef>
              <a:spcPct val="0%"/>
            </a:spcBef>
            <a:spcAft>
              <a:spcPct val="35%"/>
            </a:spcAft>
            <a:buFont typeface="+mj-lt"/>
            <a:buNone/>
          </a:pPr>
          <a:r>
            <a:rPr lang="en-US" sz="1400" kern="1200" dirty="0"/>
            <a:t>Mao et al. (2023) Forecasting and trading credit default swap indices using a deep learning model integrating Merton and LSTMs</a:t>
          </a:r>
        </a:p>
      </dsp:txBody>
      <dsp:txXfrm>
        <a:off x="1519008" y="1879098"/>
        <a:ext cx="5819579" cy="1413512"/>
      </dsp:txXfrm>
    </dsp:sp>
    <dsp:sp modelId="{E89556CF-0866-47FD-BA87-567267F5F8D3}">
      <dsp:nvSpPr>
        <dsp:cNvPr id="0" name=""/>
        <dsp:cNvSpPr/>
      </dsp:nvSpPr>
      <dsp:spPr>
        <a:xfrm>
          <a:off x="7382564" y="1180317"/>
          <a:ext cx="975951" cy="975951"/>
        </a:xfrm>
        <a:prstGeom prst="downArrow">
          <a:avLst>
            <a:gd name="adj1" fmla="val 55000"/>
            <a:gd name="adj2" fmla="val 45000"/>
          </a:avLst>
        </a:prstGeom>
        <a:solidFill>
          <a:schemeClr val="accent1">
            <a:alpha val="90%"/>
            <a:tint val="40%"/>
            <a:hueOff val="0"/>
            <a:satOff val="0%"/>
            <a:lumOff val="0%"/>
            <a:alphaOff val="0%"/>
          </a:schemeClr>
        </a:solidFill>
        <a:ln w="19050" cap="flat" cmpd="sng" algn="ctr">
          <a:solidFill>
            <a:schemeClr val="accent1">
              <a:alpha val="90%"/>
              <a:tint val="40%"/>
              <a:hueOff val="0"/>
              <a:satOff val="0%"/>
              <a:lumOff val="0%"/>
              <a:alphaOff val="0%"/>
            </a:schemeClr>
          </a:solidFill>
          <a:prstDash val="solid"/>
          <a:miter lim="8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
            </a:lnSpc>
            <a:spcBef>
              <a:spcPct val="0%"/>
            </a:spcBef>
            <a:spcAft>
              <a:spcPct val="35%"/>
            </a:spcAft>
            <a:buNone/>
          </a:pPr>
          <a:endParaRPr lang="en-US" sz="3600" kern="1200"/>
        </a:p>
      </dsp:txBody>
      <dsp:txXfrm>
        <a:off x="7602153" y="1180317"/>
        <a:ext cx="536773" cy="734403"/>
      </dsp:txXfrm>
    </dsp:sp>
  </dsp:spTree>
</dsp:drawing>
</file>

<file path=ppt/diagrams/drawing2.xml><?xml version="1.0" encoding="utf-8"?>
<dsp:drawing xmlns:dgm="http://purl.oclc.org/ooxml/drawingml/diagram" xmlns:dsp="http://schemas.microsoft.com/office/drawing/2008/diagram" xmlns:a="http://purl.oclc.org/ooxml/drawingml/main">
  <dsp:spTree>
    <dsp:nvGrpSpPr>
      <dsp:cNvPr id="0" name=""/>
      <dsp:cNvGrpSpPr/>
    </dsp:nvGrpSpPr>
    <dsp:grpSpPr/>
    <dsp:sp modelId="{AF29942C-C5C5-41D2-B6EA-7515BF24D032}">
      <dsp:nvSpPr>
        <dsp:cNvPr id="0" name=""/>
        <dsp:cNvSpPr/>
      </dsp:nvSpPr>
      <dsp:spPr>
        <a:xfrm>
          <a:off x="0" y="542195"/>
          <a:ext cx="9833548" cy="1000976"/>
        </a:xfrm>
        <a:prstGeom prst="roundRect">
          <a:avLst>
            <a:gd name="adj" fmla="val 10000"/>
          </a:avLst>
        </a:prstGeom>
        <a:solidFill>
          <a:schemeClr val="accent1">
            <a:tint val="4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9DC583-6658-457E-B3A8-12C551C05850}">
      <dsp:nvSpPr>
        <dsp:cNvPr id="0" name=""/>
        <dsp:cNvSpPr/>
      </dsp:nvSpPr>
      <dsp:spPr>
        <a:xfrm>
          <a:off x="302795" y="767415"/>
          <a:ext cx="550536" cy="550536"/>
        </a:xfrm>
        <a:prstGeom prst="rect">
          <a:avLst/>
        </a:prstGeom>
        <a:blipFill>
          <a:blip xmlns:r="http://purl.oclc.org/ooxml/officeDocument/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
        </a:ln>
        <a:effectLst/>
      </dsp:spPr>
      <dsp:style>
        <a:lnRef idx="2">
          <a:scrgbClr r="0%" g="0%" b="0%"/>
        </a:lnRef>
        <a:fillRef idx="1">
          <a:scrgbClr r="0%" g="0%" b="0%"/>
        </a:fillRef>
        <a:effectRef idx="0">
          <a:scrgbClr r="0%" g="0%" b="0%"/>
        </a:effectRef>
        <a:fontRef idx="minor">
          <a:schemeClr val="lt1"/>
        </a:fontRef>
      </dsp:style>
    </dsp:sp>
    <dsp:sp modelId="{0E2EAD70-D41A-454A-86AD-9DCD8400C89F}">
      <dsp:nvSpPr>
        <dsp:cNvPr id="0" name=""/>
        <dsp:cNvSpPr/>
      </dsp:nvSpPr>
      <dsp:spPr>
        <a:xfrm>
          <a:off x="1156127" y="542195"/>
          <a:ext cx="8677420" cy="1000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937" tIns="105937" rIns="105937" bIns="105937" numCol="1" spcCol="1270" anchor="ctr" anchorCtr="0">
          <a:noAutofit/>
        </a:bodyPr>
        <a:lstStyle/>
        <a:p>
          <a:pPr marL="0" lvl="0" indent="0" algn="l" defTabSz="711200">
            <a:lnSpc>
              <a:spcPct val="100%"/>
            </a:lnSpc>
            <a:spcBef>
              <a:spcPct val="0%"/>
            </a:spcBef>
            <a:spcAft>
              <a:spcPct val="35%"/>
            </a:spcAft>
            <a:buNone/>
          </a:pPr>
          <a:r>
            <a:rPr lang="en-US" sz="1600" kern="1200" dirty="0"/>
            <a:t>Research question: Can NLP be applied to conduct sentiment analysis on textual and economic data to help predict a country’s economic developments, by using credit default swap spread as a </a:t>
          </a:r>
          <a:r>
            <a:rPr lang="en-US" sz="1600" kern="1200" dirty="0" err="1"/>
            <a:t>proxie</a:t>
          </a:r>
          <a:r>
            <a:rPr lang="en-US" sz="1600" kern="1200" dirty="0"/>
            <a:t> fore its economical health?</a:t>
          </a:r>
        </a:p>
      </dsp:txBody>
      <dsp:txXfrm>
        <a:off x="1156127" y="542195"/>
        <a:ext cx="8677420" cy="1000976"/>
      </dsp:txXfrm>
    </dsp:sp>
    <dsp:sp modelId="{657A53DA-8991-4F14-B9E4-F00A6AF09DB6}">
      <dsp:nvSpPr>
        <dsp:cNvPr id="0" name=""/>
        <dsp:cNvSpPr/>
      </dsp:nvSpPr>
      <dsp:spPr>
        <a:xfrm>
          <a:off x="0" y="1793415"/>
          <a:ext cx="9833548" cy="1000976"/>
        </a:xfrm>
        <a:prstGeom prst="roundRect">
          <a:avLst>
            <a:gd name="adj" fmla="val 10000"/>
          </a:avLst>
        </a:prstGeom>
        <a:solidFill>
          <a:schemeClr val="accent1">
            <a:tint val="4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A7BD09-D17F-4CE8-94D9-F431CDD5BEC3}">
      <dsp:nvSpPr>
        <dsp:cNvPr id="0" name=""/>
        <dsp:cNvSpPr/>
      </dsp:nvSpPr>
      <dsp:spPr>
        <a:xfrm>
          <a:off x="302795" y="2018635"/>
          <a:ext cx="550536" cy="550536"/>
        </a:xfrm>
        <a:prstGeom prst="rect">
          <a:avLst/>
        </a:prstGeom>
        <a:blipFill>
          <a:blip xmlns:r="http://purl.oclc.org/ooxml/officeDocument/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
        </a:ln>
        <a:effectLst/>
      </dsp:spPr>
      <dsp:style>
        <a:lnRef idx="2">
          <a:scrgbClr r="0%" g="0%" b="0%"/>
        </a:lnRef>
        <a:fillRef idx="1">
          <a:scrgbClr r="0%" g="0%" b="0%"/>
        </a:fillRef>
        <a:effectRef idx="0">
          <a:scrgbClr r="0%" g="0%" b="0%"/>
        </a:effectRef>
        <a:fontRef idx="minor">
          <a:schemeClr val="lt1"/>
        </a:fontRef>
      </dsp:style>
    </dsp:sp>
    <dsp:sp modelId="{E7293CB9-0B4B-44BE-AB40-9AE1E0BB99CD}">
      <dsp:nvSpPr>
        <dsp:cNvPr id="0" name=""/>
        <dsp:cNvSpPr/>
      </dsp:nvSpPr>
      <dsp:spPr>
        <a:xfrm>
          <a:off x="1156127" y="1793415"/>
          <a:ext cx="8677420" cy="1000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937" tIns="105937" rIns="105937" bIns="105937" numCol="1" spcCol="1270" anchor="ctr" anchorCtr="0">
          <a:noAutofit/>
        </a:bodyPr>
        <a:lstStyle/>
        <a:p>
          <a:pPr marL="0" lvl="0" indent="0" algn="l" defTabSz="711200">
            <a:lnSpc>
              <a:spcPct val="100%"/>
            </a:lnSpc>
            <a:spcBef>
              <a:spcPct val="0%"/>
            </a:spcBef>
            <a:spcAft>
              <a:spcPct val="35%"/>
            </a:spcAft>
            <a:buNone/>
          </a:pPr>
          <a:r>
            <a:rPr lang="en-US" sz="1600" kern="1200" dirty="0"/>
            <a:t>Main hypothesis: Macroeconomic news is expected to enhance the accuracy of ML/DL model predictions of sovereign or index CDS spreads.</a:t>
          </a:r>
        </a:p>
      </dsp:txBody>
      <dsp:txXfrm>
        <a:off x="1156127" y="1793415"/>
        <a:ext cx="8677420" cy="1000976"/>
      </dsp:txXfrm>
    </dsp:sp>
  </dsp:spTree>
</dsp:drawing>
</file>

<file path=ppt/diagrams/layout1.xml><?xml version="1.0" encoding="utf-8"?>
<dgm:layoutDef xmlns:dgm="http://purl.oclc.org/ooxml/drawingml/diagram" xmlns:a="http://purl.oclc.org/ooxml/drawingml/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purl.oclc.org/ooxml/officeDocument/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purl.oclc.org/ooxml/officeDocument/relationships" r:blip="">
        <dgm:adjLst/>
      </dgm:shape>
      <dgm:presOf/>
      <dgm:constrLst/>
      <dgm:ruleLst/>
    </dgm:layoutNode>
    <dgm:choose name="Name3">
      <dgm:if name="Name4" axis="ch" ptType="node" func="cnt" op="equ" val="1">
        <dgm:layoutNode name="OneNode_1">
          <dgm:varLst>
            <dgm:bulletEnabled val="1"/>
          </dgm:varLst>
          <dgm:alg type="tx"/>
          <dgm:shape xmlns:r="http://purl.oclc.org/ooxml/officeDocument/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purl.oclc.org/ooxml/officeDocument/relationships" type="roundRect" r:blip="">
                <dgm:adjLst>
                  <dgm:adj idx="1" val="0.1"/>
                </dgm:adjLst>
              </dgm:shape>
              <dgm:presOf axis="ch desOrSelf" ptType="node node" st="1 1" cnt="1 0"/>
              <dgm:constrLst/>
              <dgm:ruleLst/>
            </dgm:layoutNode>
            <dgm:layoutNode name="TwoNodes_2">
              <dgm:varLst>
                <dgm:bulletEnabled val="1"/>
              </dgm:varLst>
              <dgm:alg type="sp"/>
              <dgm:shape xmlns:r="http://purl.oclc.org/ooxml/officeDocument/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purl.oclc.org/ooxml/officeDocument/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purl.oclc.org/ooxml/officeDocument/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purl.oclc.org/ooxml/officeDocument/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purl.oclc.org/ooxml/officeDocument/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purl.oclc.org/ooxml/officeDocument/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purl.oclc.org/ooxml/officeDocument/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purl.oclc.org/ooxml/officeDocument/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purl.oclc.org/ooxml/officeDocument/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purl.oclc.org/ooxml/officeDocument/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purl.oclc.org/ooxml/officeDocument/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purl.oclc.org/ooxml/officeDocument/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purl.oclc.org/ooxml/officeDocument/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purl.oclc.org/ooxml/officeDocument/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purl.oclc.org/ooxml/officeDocument/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purl.oclc.org/ooxml/officeDocument/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purl.oclc.org/ooxml/officeDocument/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purl.oclc.org/ooxml/officeDocument/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purl.oclc.org/ooxml/officeDocument/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purl.oclc.org/ooxml/officeDocument/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purl.oclc.org/ooxml/officeDocument/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purl.oclc.org/ooxml/officeDocument/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purl.oclc.org/ooxml/officeDocument/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purl.oclc.org/ooxml/officeDocument/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purl.oclc.org/ooxml/drawingml/diagram" xmlns:a="http://purl.oclc.org/ooxml/drawingml/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purl.oclc.org/ooxml/officeDocument/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purl.oclc.org/ooxml/officeDocument/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purl.oclc.org/ooxml/officeDocument/relationships" type="roundRect" r:blip="">
            <dgm:adjLst>
              <dgm:adj idx="1" val="0.1"/>
            </dgm:adjLst>
          </dgm:shape>
          <dgm:presOf/>
          <dgm:constrLst/>
          <dgm:ruleLst/>
        </dgm:layoutNode>
        <dgm:layoutNode name="iconRect" styleLbl="node1">
          <dgm:alg type="sp"/>
          <dgm:shape xmlns:r="http://purl.oclc.org/ooxml/officeDocument/relationships" type="rect" r:blip="" blipPhldr="1">
            <dgm:adjLst/>
          </dgm:shape>
          <dgm:presOf/>
          <dgm:constrLst/>
          <dgm:ruleLst/>
        </dgm:layoutNode>
        <dgm:layoutNode name="spaceRect">
          <dgm:alg type="sp"/>
          <dgm:shape xmlns:r="http://purl.oclc.org/ooxml/officeDocument/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purl.oclc.org/ooxml/officeDocument/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purl.oclc.org/ooxml/officeDocument/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purl.oclc.org/ooxml/officeDocument/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
          </a:lnSpc>
        </a:lvl1pPr>
        <a:lvl2pPr>
          <a:lnSpc>
            <a:spcPct val="100%"/>
          </a:lnSpc>
        </a:lvl2pPr>
      </dgm1612:lstStyle>
    </a:ext>
  </dgm:extLst>
</dgm:layoutDef>
</file>

<file path=ppt/diagrams/quickStyle1.xml><?xml version="1.0" encoding="utf-8"?>
<dgm:styleDef xmlns:dgm="http://purl.oclc.org/ooxml/drawingml/diagram" xmlns:a="http://purl.oclc.org/ooxml/drawingml/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purl.oclc.org/ooxml/drawingml/diagram" xmlns:a="http://purl.oclc.org/ooxml/drawingml/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purl.oclc.org/ooxml/officeDocument/relationships/slideMaster" Target="../slideMasters/slideMaster1.xml"/></Relationships>
</file>

<file path=ppt/slideLayouts/_rels/slideLayout2.xml.rels><?xml version="1.0" encoding="UTF-8" standalone="yes"?>
<Relationships xmlns="http://schemas.openxmlformats.org/package/2006/relationships"><Relationship Id="rId1" Type="http://purl.oclc.org/ooxml/officeDocument/relationships/slideMaster" Target="../slideMasters/slideMaster1.xml"/></Relationships>
</file>

<file path=ppt/slideLayouts/_rels/slideLayout3.xml.rels><?xml version="1.0" encoding="UTF-8" standalone="yes"?>
<Relationships xmlns="http://schemas.openxmlformats.org/package/2006/relationships"><Relationship Id="rId1" Type="http://purl.oclc.org/ooxml/officeDocument/relationships/slideMaster" Target="../slideMasters/slideMaster1.xml"/></Relationships>
</file>

<file path=ppt/slideLayouts/_rels/slideLayout4.xml.rels><?xml version="1.0" encoding="UTF-8" standalone="yes"?>
<Relationships xmlns="http://schemas.openxmlformats.org/package/2006/relationships"><Relationship Id="rId1" Type="http://purl.oclc.org/ooxml/officeDocument/relationships/slideMaster" Target="../slideMasters/slideMaster1.xml"/></Relationships>
</file>

<file path=ppt/slideLayouts/_rels/slideLayout5.xml.rels><?xml version="1.0" encoding="UTF-8" standalone="yes"?>
<Relationships xmlns="http://schemas.openxmlformats.org/package/2006/relationships"><Relationship Id="rId1" Type="http://purl.oclc.org/ooxml/officeDocument/relationships/slideMaster" Target="../slideMasters/slideMaster1.xml"/></Relationships>
</file>

<file path=ppt/slideLayouts/_rels/slideLayout6.xml.rels><?xml version="1.0" encoding="UTF-8" standalone="yes"?>
<Relationships xmlns="http://schemas.openxmlformats.org/package/2006/relationships"><Relationship Id="rId1" Type="http://purl.oclc.org/ooxml/officeDocument/relationships/slideMaster" Target="../slideMasters/slideMaster1.xml"/></Relationships>
</file>

<file path=ppt/slideLayouts/_rels/slideLayout7.xml.rels><?xml version="1.0" encoding="UTF-8" standalone="yes"?>
<Relationships xmlns="http://schemas.openxmlformats.org/package/2006/relationships"><Relationship Id="rId1" Type="http://purl.oclc.org/ooxml/officeDocument/relationships/slideMaster" Target="../slideMasters/slideMaster1.xml"/></Relationships>
</file>

<file path=ppt/slideLayouts/_rels/slideLayout8.xml.rels><?xml version="1.0" encoding="UTF-8" standalone="yes"?>
<Relationships xmlns="http://schemas.openxmlformats.org/package/2006/relationships"><Relationship Id="rId1" Type="http://purl.oclc.org/ooxml/officeDocument/relationships/slideMaster" Target="../slideMasters/slideMaster1.xml"/></Relationships>
</file>

<file path=ppt/slideLayouts/_rels/slideLayout9.xml.rels><?xml version="1.0" encoding="UTF-8" standalone="yes"?>
<Relationships xmlns="http://schemas.openxmlformats.org/package/2006/relationships"><Relationship Id="rId1" Type="http://purl.oclc.org/ooxml/officeDocument/relationships/slideMaster" Target="../slideMasters/slideMaster1.xml"/></Relationships>
</file>

<file path=ppt/slideLayouts/_rels/slideLayout10.xml.rels><?xml version="1.0" encoding="UTF-8" standalone="yes"?>
<Relationships xmlns="http://schemas.openxmlformats.org/package/2006/relationships"><Relationship Id="rId1" Type="http://purl.oclc.org/ooxml/officeDocument/relationships/slideMaster" Target="../slideMasters/slideMaster1.xml"/></Relationships>
</file>

<file path=ppt/slideLayouts/_rels/slideLayout11.xml.rels><?xml version="1.0" encoding="UTF-8" standalone="yes"?>
<Relationships xmlns="http://schemas.openxmlformats.org/package/2006/relationships"><Relationship Id="rId1" Type="http://purl.oclc.org/ooxml/officeDocument/relationships/slideMaster" Target="../slideMasters/slideMaster1.xml"/></Relationships>
</file>

<file path=ppt/slideLayouts/slideLayout1.xml><?xml version="1.0" encoding="utf-8"?>
<p:sldLayout xmlns:a="http://purl.oclc.org/ooxml/drawingml/main" xmlns:r="http://purl.oclc.org/ooxml/officeDocument/relationships" xmlns:p="http://purl.oclc.org/ooxml/presentationml/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5CC5D-624B-0E35-077C-C2A1A6905F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3D8F04-E603-9F50-E1E6-236FEAC14F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64794F-9965-0D69-D7A6-E22E4C012F0D}"/>
              </a:ext>
            </a:extLst>
          </p:cNvPr>
          <p:cNvSpPr>
            <a:spLocks noGrp="1"/>
          </p:cNvSpPr>
          <p:nvPr>
            <p:ph type="dt" sz="half" idx="10"/>
          </p:nvPr>
        </p:nvSpPr>
        <p:spPr/>
        <p:txBody>
          <a:bodyPr/>
          <a:lstStyle/>
          <a:p>
            <a:fld id="{0CFD009B-858A-49E8-B108-BE1EC4B6FD4E}" type="datetimeFigureOut">
              <a:rPr lang="en-US" smtClean="0"/>
              <a:t>9/26/2025</a:t>
            </a:fld>
            <a:endParaRPr lang="en-US"/>
          </a:p>
        </p:txBody>
      </p:sp>
      <p:sp>
        <p:nvSpPr>
          <p:cNvPr id="5" name="Footer Placeholder 4">
            <a:extLst>
              <a:ext uri="{FF2B5EF4-FFF2-40B4-BE49-F238E27FC236}">
                <a16:creationId xmlns:a16="http://schemas.microsoft.com/office/drawing/2014/main" id="{C6C245D0-A91E-596D-6975-0226CA1168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0171DA-08EA-EE2B-F5E7-D12C2C3C08EA}"/>
              </a:ext>
            </a:extLst>
          </p:cNvPr>
          <p:cNvSpPr>
            <a:spLocks noGrp="1"/>
          </p:cNvSpPr>
          <p:nvPr>
            <p:ph type="sldNum" sz="quarter" idx="12"/>
          </p:nvPr>
        </p:nvSpPr>
        <p:spPr/>
        <p:txBody>
          <a:bodyPr/>
          <a:lstStyle/>
          <a:p>
            <a:fld id="{7E864E62-90F1-47C4-9F16-8AA52ABBD930}" type="slidenum">
              <a:rPr lang="en-US" smtClean="0"/>
              <a:t>‹#›</a:t>
            </a:fld>
            <a:endParaRPr lang="en-US"/>
          </a:p>
        </p:txBody>
      </p:sp>
    </p:spTree>
    <p:extLst>
      <p:ext uri="{BB962C8B-B14F-4D97-AF65-F5344CB8AC3E}">
        <p14:creationId xmlns:p14="http://schemas.microsoft.com/office/powerpoint/2010/main" val="2866904526"/>
      </p:ext>
    </p:extLst>
  </p:cSld>
  <p:clrMapOvr>
    <a:masterClrMapping/>
  </p:clrMapOvr>
</p:sldLayout>
</file>

<file path=ppt/slideLayouts/slideLayout2.xml><?xml version="1.0" encoding="utf-8"?>
<p:sldLayout xmlns:a="http://purl.oclc.org/ooxml/drawingml/main" xmlns:r="http://purl.oclc.org/ooxml/officeDocument/relationships" xmlns:p="http://purl.oclc.org/ooxml/presentationml/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ABA90-0A68-1053-2D58-E9A3F0284B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22F4A1-86E7-4F15-98E4-FE8A54ED26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952CB0-59E9-3006-1FB0-3872B429F5E7}"/>
              </a:ext>
            </a:extLst>
          </p:cNvPr>
          <p:cNvSpPr>
            <a:spLocks noGrp="1"/>
          </p:cNvSpPr>
          <p:nvPr>
            <p:ph type="dt" sz="half" idx="10"/>
          </p:nvPr>
        </p:nvSpPr>
        <p:spPr/>
        <p:txBody>
          <a:bodyPr/>
          <a:lstStyle/>
          <a:p>
            <a:fld id="{0CFD009B-858A-49E8-B108-BE1EC4B6FD4E}" type="datetimeFigureOut">
              <a:rPr lang="en-US" smtClean="0"/>
              <a:t>9/26/2025</a:t>
            </a:fld>
            <a:endParaRPr lang="en-US"/>
          </a:p>
        </p:txBody>
      </p:sp>
      <p:sp>
        <p:nvSpPr>
          <p:cNvPr id="5" name="Footer Placeholder 4">
            <a:extLst>
              <a:ext uri="{FF2B5EF4-FFF2-40B4-BE49-F238E27FC236}">
                <a16:creationId xmlns:a16="http://schemas.microsoft.com/office/drawing/2014/main" id="{E9A5BB16-6C70-443A-2450-7B77D4509E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617BE-9976-8FBF-3803-71602758CE49}"/>
              </a:ext>
            </a:extLst>
          </p:cNvPr>
          <p:cNvSpPr>
            <a:spLocks noGrp="1"/>
          </p:cNvSpPr>
          <p:nvPr>
            <p:ph type="sldNum" sz="quarter" idx="12"/>
          </p:nvPr>
        </p:nvSpPr>
        <p:spPr/>
        <p:txBody>
          <a:bodyPr/>
          <a:lstStyle/>
          <a:p>
            <a:fld id="{7E864E62-90F1-47C4-9F16-8AA52ABBD930}" type="slidenum">
              <a:rPr lang="en-US" smtClean="0"/>
              <a:t>‹#›</a:t>
            </a:fld>
            <a:endParaRPr lang="en-US"/>
          </a:p>
        </p:txBody>
      </p:sp>
    </p:spTree>
    <p:extLst>
      <p:ext uri="{BB962C8B-B14F-4D97-AF65-F5344CB8AC3E}">
        <p14:creationId xmlns:p14="http://schemas.microsoft.com/office/powerpoint/2010/main" val="2280063679"/>
      </p:ext>
    </p:extLst>
  </p:cSld>
  <p:clrMapOvr>
    <a:masterClrMapping/>
  </p:clrMapOvr>
</p:sldLayout>
</file>

<file path=ppt/slideLayouts/slideLayout3.xml><?xml version="1.0" encoding="utf-8"?>
<p:sldLayout xmlns:a="http://purl.oclc.org/ooxml/drawingml/main" xmlns:r="http://purl.oclc.org/ooxml/officeDocument/relationships" xmlns:p="http://purl.oclc.org/ooxml/presentationml/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0242D-2E4E-BD6F-E532-520B81F84B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3DC417-386D-E4E7-8F17-A8D16CD09DE2}"/>
              </a:ext>
            </a:extLst>
          </p:cNvPr>
          <p:cNvSpPr>
            <a:spLocks noGrp="1"/>
          </p:cNvSpPr>
          <p:nvPr>
            <p:ph type="body" idx="1"/>
          </p:nvPr>
        </p:nvSpPr>
        <p:spPr>
          <a:xfrm>
            <a:off x="831850" y="4589463"/>
            <a:ext cx="10515600" cy="1500187"/>
          </a:xfrm>
        </p:spPr>
        <p:txBody>
          <a:bodyPr/>
          <a:lstStyle>
            <a:lvl1pPr marL="0" indent="0">
              <a:buNone/>
              <a:defRPr sz="2400">
                <a:solidFill>
                  <a:schemeClr val="tx1">
                    <a:tint val="82%"/>
                  </a:schemeClr>
                </a:solidFill>
              </a:defRPr>
            </a:lvl1pPr>
            <a:lvl2pPr marL="457200" indent="0">
              <a:buNone/>
              <a:defRPr sz="2000">
                <a:solidFill>
                  <a:schemeClr val="tx1">
                    <a:tint val="82%"/>
                  </a:schemeClr>
                </a:solidFill>
              </a:defRPr>
            </a:lvl2pPr>
            <a:lvl3pPr marL="914400" indent="0">
              <a:buNone/>
              <a:defRPr sz="1800">
                <a:solidFill>
                  <a:schemeClr val="tx1">
                    <a:tint val="82%"/>
                  </a:schemeClr>
                </a:solidFill>
              </a:defRPr>
            </a:lvl3pPr>
            <a:lvl4pPr marL="1371600" indent="0">
              <a:buNone/>
              <a:defRPr sz="1600">
                <a:solidFill>
                  <a:schemeClr val="tx1">
                    <a:tint val="82%"/>
                  </a:schemeClr>
                </a:solidFill>
              </a:defRPr>
            </a:lvl4pPr>
            <a:lvl5pPr marL="1828800" indent="0">
              <a:buNone/>
              <a:defRPr sz="1600">
                <a:solidFill>
                  <a:schemeClr val="tx1">
                    <a:tint val="82%"/>
                  </a:schemeClr>
                </a:solidFill>
              </a:defRPr>
            </a:lvl5pPr>
            <a:lvl6pPr marL="2286000" indent="0">
              <a:buNone/>
              <a:defRPr sz="1600">
                <a:solidFill>
                  <a:schemeClr val="tx1">
                    <a:tint val="82%"/>
                  </a:schemeClr>
                </a:solidFill>
              </a:defRPr>
            </a:lvl6pPr>
            <a:lvl7pPr marL="2743200" indent="0">
              <a:buNone/>
              <a:defRPr sz="1600">
                <a:solidFill>
                  <a:schemeClr val="tx1">
                    <a:tint val="82%"/>
                  </a:schemeClr>
                </a:solidFill>
              </a:defRPr>
            </a:lvl7pPr>
            <a:lvl8pPr marL="3200400" indent="0">
              <a:buNone/>
              <a:defRPr sz="1600">
                <a:solidFill>
                  <a:schemeClr val="tx1">
                    <a:tint val="82%"/>
                  </a:schemeClr>
                </a:solidFill>
              </a:defRPr>
            </a:lvl8pPr>
            <a:lvl9pPr marL="3657600" indent="0">
              <a:buNone/>
              <a:defRPr sz="1600">
                <a:solidFill>
                  <a:schemeClr val="tx1">
                    <a:tint val="82%"/>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871865-D4AF-67DC-7BAD-19DDC9C3861D}"/>
              </a:ext>
            </a:extLst>
          </p:cNvPr>
          <p:cNvSpPr>
            <a:spLocks noGrp="1"/>
          </p:cNvSpPr>
          <p:nvPr>
            <p:ph type="dt" sz="half" idx="10"/>
          </p:nvPr>
        </p:nvSpPr>
        <p:spPr/>
        <p:txBody>
          <a:bodyPr/>
          <a:lstStyle/>
          <a:p>
            <a:fld id="{0CFD009B-858A-49E8-B108-BE1EC4B6FD4E}" type="datetimeFigureOut">
              <a:rPr lang="en-US" smtClean="0"/>
              <a:t>9/26/2025</a:t>
            </a:fld>
            <a:endParaRPr lang="en-US"/>
          </a:p>
        </p:txBody>
      </p:sp>
      <p:sp>
        <p:nvSpPr>
          <p:cNvPr id="5" name="Footer Placeholder 4">
            <a:extLst>
              <a:ext uri="{FF2B5EF4-FFF2-40B4-BE49-F238E27FC236}">
                <a16:creationId xmlns:a16="http://schemas.microsoft.com/office/drawing/2014/main" id="{BB5E82C7-C8FC-5175-E065-0765A316C9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3BBEF6-97E0-8656-D6EC-F19B6635DE50}"/>
              </a:ext>
            </a:extLst>
          </p:cNvPr>
          <p:cNvSpPr>
            <a:spLocks noGrp="1"/>
          </p:cNvSpPr>
          <p:nvPr>
            <p:ph type="sldNum" sz="quarter" idx="12"/>
          </p:nvPr>
        </p:nvSpPr>
        <p:spPr/>
        <p:txBody>
          <a:bodyPr/>
          <a:lstStyle/>
          <a:p>
            <a:fld id="{7E864E62-90F1-47C4-9F16-8AA52ABBD930}" type="slidenum">
              <a:rPr lang="en-US" smtClean="0"/>
              <a:t>‹#›</a:t>
            </a:fld>
            <a:endParaRPr lang="en-US"/>
          </a:p>
        </p:txBody>
      </p:sp>
    </p:spTree>
    <p:extLst>
      <p:ext uri="{BB962C8B-B14F-4D97-AF65-F5344CB8AC3E}">
        <p14:creationId xmlns:p14="http://schemas.microsoft.com/office/powerpoint/2010/main" val="2060938146"/>
      </p:ext>
    </p:extLst>
  </p:cSld>
  <p:clrMapOvr>
    <a:masterClrMapping/>
  </p:clrMapOvr>
</p:sldLayout>
</file>

<file path=ppt/slideLayouts/slideLayout4.xml><?xml version="1.0" encoding="utf-8"?>
<p:sldLayout xmlns:a="http://purl.oclc.org/ooxml/drawingml/main" xmlns:r="http://purl.oclc.org/ooxml/officeDocument/relationships" xmlns:p="http://purl.oclc.org/ooxml/presentationml/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F4D32-CD4A-B879-66DA-F7B2D8E109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CE1F8F-6AF5-C7FC-BA20-E2BFE300CB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0E0234-054E-1464-47FF-E2D4FD254F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685E8D-BAB9-1CE9-5C88-3C8B773CA265}"/>
              </a:ext>
            </a:extLst>
          </p:cNvPr>
          <p:cNvSpPr>
            <a:spLocks noGrp="1"/>
          </p:cNvSpPr>
          <p:nvPr>
            <p:ph type="dt" sz="half" idx="10"/>
          </p:nvPr>
        </p:nvSpPr>
        <p:spPr/>
        <p:txBody>
          <a:bodyPr/>
          <a:lstStyle/>
          <a:p>
            <a:fld id="{0CFD009B-858A-49E8-B108-BE1EC4B6FD4E}" type="datetimeFigureOut">
              <a:rPr lang="en-US" smtClean="0"/>
              <a:t>9/26/2025</a:t>
            </a:fld>
            <a:endParaRPr lang="en-US"/>
          </a:p>
        </p:txBody>
      </p:sp>
      <p:sp>
        <p:nvSpPr>
          <p:cNvPr id="6" name="Footer Placeholder 5">
            <a:extLst>
              <a:ext uri="{FF2B5EF4-FFF2-40B4-BE49-F238E27FC236}">
                <a16:creationId xmlns:a16="http://schemas.microsoft.com/office/drawing/2014/main" id="{6ECD367A-5E05-0DD9-8EC2-D6D92C4291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708042-5258-8975-B2A6-C0B5D331275A}"/>
              </a:ext>
            </a:extLst>
          </p:cNvPr>
          <p:cNvSpPr>
            <a:spLocks noGrp="1"/>
          </p:cNvSpPr>
          <p:nvPr>
            <p:ph type="sldNum" sz="quarter" idx="12"/>
          </p:nvPr>
        </p:nvSpPr>
        <p:spPr/>
        <p:txBody>
          <a:bodyPr/>
          <a:lstStyle/>
          <a:p>
            <a:fld id="{7E864E62-90F1-47C4-9F16-8AA52ABBD930}" type="slidenum">
              <a:rPr lang="en-US" smtClean="0"/>
              <a:t>‹#›</a:t>
            </a:fld>
            <a:endParaRPr lang="en-US"/>
          </a:p>
        </p:txBody>
      </p:sp>
    </p:spTree>
    <p:extLst>
      <p:ext uri="{BB962C8B-B14F-4D97-AF65-F5344CB8AC3E}">
        <p14:creationId xmlns:p14="http://schemas.microsoft.com/office/powerpoint/2010/main" val="370746872"/>
      </p:ext>
    </p:extLst>
  </p:cSld>
  <p:clrMapOvr>
    <a:masterClrMapping/>
  </p:clrMapOvr>
</p:sldLayout>
</file>

<file path=ppt/slideLayouts/slideLayout5.xml><?xml version="1.0" encoding="utf-8"?>
<p:sldLayout xmlns:a="http://purl.oclc.org/ooxml/drawingml/main" xmlns:r="http://purl.oclc.org/ooxml/officeDocument/relationships" xmlns:p="http://purl.oclc.org/ooxml/presentationml/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18D4F-8DA8-D71C-204C-D0EBEFBDA5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D1FB01-D417-A9AE-5D86-FBFFBB46D6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B5015B-8310-121D-812B-E66F56BC9C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D587A6-6B2A-362A-A0BE-C010F0DF54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F7F343-5583-2E9C-1E9D-1B11D84292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57B43F-F056-12D2-525F-BFE5D1CC5E0D}"/>
              </a:ext>
            </a:extLst>
          </p:cNvPr>
          <p:cNvSpPr>
            <a:spLocks noGrp="1"/>
          </p:cNvSpPr>
          <p:nvPr>
            <p:ph type="dt" sz="half" idx="10"/>
          </p:nvPr>
        </p:nvSpPr>
        <p:spPr/>
        <p:txBody>
          <a:bodyPr/>
          <a:lstStyle/>
          <a:p>
            <a:fld id="{0CFD009B-858A-49E8-B108-BE1EC4B6FD4E}" type="datetimeFigureOut">
              <a:rPr lang="en-US" smtClean="0"/>
              <a:t>9/26/2025</a:t>
            </a:fld>
            <a:endParaRPr lang="en-US"/>
          </a:p>
        </p:txBody>
      </p:sp>
      <p:sp>
        <p:nvSpPr>
          <p:cNvPr id="8" name="Footer Placeholder 7">
            <a:extLst>
              <a:ext uri="{FF2B5EF4-FFF2-40B4-BE49-F238E27FC236}">
                <a16:creationId xmlns:a16="http://schemas.microsoft.com/office/drawing/2014/main" id="{8EC723AC-5463-1880-CCC1-1C998335FE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6FD531-753E-6612-28E4-A76A2508A75A}"/>
              </a:ext>
            </a:extLst>
          </p:cNvPr>
          <p:cNvSpPr>
            <a:spLocks noGrp="1"/>
          </p:cNvSpPr>
          <p:nvPr>
            <p:ph type="sldNum" sz="quarter" idx="12"/>
          </p:nvPr>
        </p:nvSpPr>
        <p:spPr/>
        <p:txBody>
          <a:bodyPr/>
          <a:lstStyle/>
          <a:p>
            <a:fld id="{7E864E62-90F1-47C4-9F16-8AA52ABBD930}" type="slidenum">
              <a:rPr lang="en-US" smtClean="0"/>
              <a:t>‹#›</a:t>
            </a:fld>
            <a:endParaRPr lang="en-US"/>
          </a:p>
        </p:txBody>
      </p:sp>
    </p:spTree>
    <p:extLst>
      <p:ext uri="{BB962C8B-B14F-4D97-AF65-F5344CB8AC3E}">
        <p14:creationId xmlns:p14="http://schemas.microsoft.com/office/powerpoint/2010/main" val="3115972578"/>
      </p:ext>
    </p:extLst>
  </p:cSld>
  <p:clrMapOvr>
    <a:masterClrMapping/>
  </p:clrMapOvr>
</p:sldLayout>
</file>

<file path=ppt/slideLayouts/slideLayout6.xml><?xml version="1.0" encoding="utf-8"?>
<p:sldLayout xmlns:a="http://purl.oclc.org/ooxml/drawingml/main" xmlns:r="http://purl.oclc.org/ooxml/officeDocument/relationships" xmlns:p="http://purl.oclc.org/ooxml/presentationml/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E2C4C-088F-0E61-12A4-5B62D4EA39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6E195E-6217-6254-14FB-90835F088D7F}"/>
              </a:ext>
            </a:extLst>
          </p:cNvPr>
          <p:cNvSpPr>
            <a:spLocks noGrp="1"/>
          </p:cNvSpPr>
          <p:nvPr>
            <p:ph type="dt" sz="half" idx="10"/>
          </p:nvPr>
        </p:nvSpPr>
        <p:spPr/>
        <p:txBody>
          <a:bodyPr/>
          <a:lstStyle/>
          <a:p>
            <a:fld id="{0CFD009B-858A-49E8-B108-BE1EC4B6FD4E}" type="datetimeFigureOut">
              <a:rPr lang="en-US" smtClean="0"/>
              <a:t>9/26/2025</a:t>
            </a:fld>
            <a:endParaRPr lang="en-US"/>
          </a:p>
        </p:txBody>
      </p:sp>
      <p:sp>
        <p:nvSpPr>
          <p:cNvPr id="4" name="Footer Placeholder 3">
            <a:extLst>
              <a:ext uri="{FF2B5EF4-FFF2-40B4-BE49-F238E27FC236}">
                <a16:creationId xmlns:a16="http://schemas.microsoft.com/office/drawing/2014/main" id="{73596B39-10F7-D40D-0138-55146635EE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648759-845F-1BBF-4EF7-9A09BA0533CC}"/>
              </a:ext>
            </a:extLst>
          </p:cNvPr>
          <p:cNvSpPr>
            <a:spLocks noGrp="1"/>
          </p:cNvSpPr>
          <p:nvPr>
            <p:ph type="sldNum" sz="quarter" idx="12"/>
          </p:nvPr>
        </p:nvSpPr>
        <p:spPr/>
        <p:txBody>
          <a:bodyPr/>
          <a:lstStyle/>
          <a:p>
            <a:fld id="{7E864E62-90F1-47C4-9F16-8AA52ABBD930}" type="slidenum">
              <a:rPr lang="en-US" smtClean="0"/>
              <a:t>‹#›</a:t>
            </a:fld>
            <a:endParaRPr lang="en-US"/>
          </a:p>
        </p:txBody>
      </p:sp>
    </p:spTree>
    <p:extLst>
      <p:ext uri="{BB962C8B-B14F-4D97-AF65-F5344CB8AC3E}">
        <p14:creationId xmlns:p14="http://schemas.microsoft.com/office/powerpoint/2010/main" val="2701385983"/>
      </p:ext>
    </p:extLst>
  </p:cSld>
  <p:clrMapOvr>
    <a:masterClrMapping/>
  </p:clrMapOvr>
</p:sldLayout>
</file>

<file path=ppt/slideLayouts/slideLayout7.xml><?xml version="1.0" encoding="utf-8"?>
<p:sldLayout xmlns:a="http://purl.oclc.org/ooxml/drawingml/main" xmlns:r="http://purl.oclc.org/ooxml/officeDocument/relationships" xmlns:p="http://purl.oclc.org/ooxml/presentationml/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02F4CA-4039-4ED2-963C-C1CC25E46D07}"/>
              </a:ext>
            </a:extLst>
          </p:cNvPr>
          <p:cNvSpPr>
            <a:spLocks noGrp="1"/>
          </p:cNvSpPr>
          <p:nvPr>
            <p:ph type="dt" sz="half" idx="10"/>
          </p:nvPr>
        </p:nvSpPr>
        <p:spPr/>
        <p:txBody>
          <a:bodyPr/>
          <a:lstStyle/>
          <a:p>
            <a:fld id="{0CFD009B-858A-49E8-B108-BE1EC4B6FD4E}" type="datetimeFigureOut">
              <a:rPr lang="en-US" smtClean="0"/>
              <a:t>9/26/2025</a:t>
            </a:fld>
            <a:endParaRPr lang="en-US"/>
          </a:p>
        </p:txBody>
      </p:sp>
      <p:sp>
        <p:nvSpPr>
          <p:cNvPr id="3" name="Footer Placeholder 2">
            <a:extLst>
              <a:ext uri="{FF2B5EF4-FFF2-40B4-BE49-F238E27FC236}">
                <a16:creationId xmlns:a16="http://schemas.microsoft.com/office/drawing/2014/main" id="{CEF04C4C-D5D8-AB69-C8CC-F4C1FF8D39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5E7BAA-B258-AB34-4117-E67713C56C11}"/>
              </a:ext>
            </a:extLst>
          </p:cNvPr>
          <p:cNvSpPr>
            <a:spLocks noGrp="1"/>
          </p:cNvSpPr>
          <p:nvPr>
            <p:ph type="sldNum" sz="quarter" idx="12"/>
          </p:nvPr>
        </p:nvSpPr>
        <p:spPr/>
        <p:txBody>
          <a:bodyPr/>
          <a:lstStyle/>
          <a:p>
            <a:fld id="{7E864E62-90F1-47C4-9F16-8AA52ABBD930}" type="slidenum">
              <a:rPr lang="en-US" smtClean="0"/>
              <a:t>‹#›</a:t>
            </a:fld>
            <a:endParaRPr lang="en-US"/>
          </a:p>
        </p:txBody>
      </p:sp>
    </p:spTree>
    <p:extLst>
      <p:ext uri="{BB962C8B-B14F-4D97-AF65-F5344CB8AC3E}">
        <p14:creationId xmlns:p14="http://schemas.microsoft.com/office/powerpoint/2010/main" val="349214465"/>
      </p:ext>
    </p:extLst>
  </p:cSld>
  <p:clrMapOvr>
    <a:masterClrMapping/>
  </p:clrMapOvr>
</p:sldLayout>
</file>

<file path=ppt/slideLayouts/slideLayout8.xml><?xml version="1.0" encoding="utf-8"?>
<p:sldLayout xmlns:a="http://purl.oclc.org/ooxml/drawingml/main" xmlns:r="http://purl.oclc.org/ooxml/officeDocument/relationships" xmlns:p="http://purl.oclc.org/ooxml/presentationml/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79F3-2AF0-B42A-553D-C89504B021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D0036D-EBD9-EB0A-1AAB-EA032EAE0D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8DAA939-FCE6-87E0-2DEF-96906C7B99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FDC910-34BA-D38C-65E4-5BB687C1A3DC}"/>
              </a:ext>
            </a:extLst>
          </p:cNvPr>
          <p:cNvSpPr>
            <a:spLocks noGrp="1"/>
          </p:cNvSpPr>
          <p:nvPr>
            <p:ph type="dt" sz="half" idx="10"/>
          </p:nvPr>
        </p:nvSpPr>
        <p:spPr/>
        <p:txBody>
          <a:bodyPr/>
          <a:lstStyle/>
          <a:p>
            <a:fld id="{0CFD009B-858A-49E8-B108-BE1EC4B6FD4E}" type="datetimeFigureOut">
              <a:rPr lang="en-US" smtClean="0"/>
              <a:t>9/26/2025</a:t>
            </a:fld>
            <a:endParaRPr lang="en-US"/>
          </a:p>
        </p:txBody>
      </p:sp>
      <p:sp>
        <p:nvSpPr>
          <p:cNvPr id="6" name="Footer Placeholder 5">
            <a:extLst>
              <a:ext uri="{FF2B5EF4-FFF2-40B4-BE49-F238E27FC236}">
                <a16:creationId xmlns:a16="http://schemas.microsoft.com/office/drawing/2014/main" id="{B15D3DC2-C2B5-1C49-383A-9CD5E3A677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304E34-2C0D-D9D9-ADFF-99FD39D91623}"/>
              </a:ext>
            </a:extLst>
          </p:cNvPr>
          <p:cNvSpPr>
            <a:spLocks noGrp="1"/>
          </p:cNvSpPr>
          <p:nvPr>
            <p:ph type="sldNum" sz="quarter" idx="12"/>
          </p:nvPr>
        </p:nvSpPr>
        <p:spPr/>
        <p:txBody>
          <a:bodyPr/>
          <a:lstStyle/>
          <a:p>
            <a:fld id="{7E864E62-90F1-47C4-9F16-8AA52ABBD930}" type="slidenum">
              <a:rPr lang="en-US" smtClean="0"/>
              <a:t>‹#›</a:t>
            </a:fld>
            <a:endParaRPr lang="en-US"/>
          </a:p>
        </p:txBody>
      </p:sp>
    </p:spTree>
    <p:extLst>
      <p:ext uri="{BB962C8B-B14F-4D97-AF65-F5344CB8AC3E}">
        <p14:creationId xmlns:p14="http://schemas.microsoft.com/office/powerpoint/2010/main" val="4232686116"/>
      </p:ext>
    </p:extLst>
  </p:cSld>
  <p:clrMapOvr>
    <a:masterClrMapping/>
  </p:clrMapOvr>
</p:sldLayout>
</file>

<file path=ppt/slideLayouts/slideLayout9.xml><?xml version="1.0" encoding="utf-8"?>
<p:sldLayout xmlns:a="http://purl.oclc.org/ooxml/drawingml/main" xmlns:r="http://purl.oclc.org/ooxml/officeDocument/relationships" xmlns:p="http://purl.oclc.org/ooxml/presentationml/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35A78-3C31-5A9D-CBBD-7BFEB4A319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6F9268-F8B4-A74C-7440-61E351467D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4A803E-EB20-1CE2-4AB9-6B8223BB1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E96CA0-6663-F513-04B4-8EA5471FE918}"/>
              </a:ext>
            </a:extLst>
          </p:cNvPr>
          <p:cNvSpPr>
            <a:spLocks noGrp="1"/>
          </p:cNvSpPr>
          <p:nvPr>
            <p:ph type="dt" sz="half" idx="10"/>
          </p:nvPr>
        </p:nvSpPr>
        <p:spPr/>
        <p:txBody>
          <a:bodyPr/>
          <a:lstStyle/>
          <a:p>
            <a:fld id="{0CFD009B-858A-49E8-B108-BE1EC4B6FD4E}" type="datetimeFigureOut">
              <a:rPr lang="en-US" smtClean="0"/>
              <a:t>9/26/2025</a:t>
            </a:fld>
            <a:endParaRPr lang="en-US"/>
          </a:p>
        </p:txBody>
      </p:sp>
      <p:sp>
        <p:nvSpPr>
          <p:cNvPr id="6" name="Footer Placeholder 5">
            <a:extLst>
              <a:ext uri="{FF2B5EF4-FFF2-40B4-BE49-F238E27FC236}">
                <a16:creationId xmlns:a16="http://schemas.microsoft.com/office/drawing/2014/main" id="{C40DE8CD-1687-D87B-D655-43AD1DB7BF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9956AA-25FD-AACA-3429-F846000CECC1}"/>
              </a:ext>
            </a:extLst>
          </p:cNvPr>
          <p:cNvSpPr>
            <a:spLocks noGrp="1"/>
          </p:cNvSpPr>
          <p:nvPr>
            <p:ph type="sldNum" sz="quarter" idx="12"/>
          </p:nvPr>
        </p:nvSpPr>
        <p:spPr/>
        <p:txBody>
          <a:bodyPr/>
          <a:lstStyle/>
          <a:p>
            <a:fld id="{7E864E62-90F1-47C4-9F16-8AA52ABBD930}" type="slidenum">
              <a:rPr lang="en-US" smtClean="0"/>
              <a:t>‹#›</a:t>
            </a:fld>
            <a:endParaRPr lang="en-US"/>
          </a:p>
        </p:txBody>
      </p:sp>
    </p:spTree>
    <p:extLst>
      <p:ext uri="{BB962C8B-B14F-4D97-AF65-F5344CB8AC3E}">
        <p14:creationId xmlns:p14="http://schemas.microsoft.com/office/powerpoint/2010/main" val="970926908"/>
      </p:ext>
    </p:extLst>
  </p:cSld>
  <p:clrMapOvr>
    <a:masterClrMapping/>
  </p:clrMapOvr>
</p:sldLayout>
</file>

<file path=ppt/slideLayouts/slideLayout10.xml><?xml version="1.0" encoding="utf-8"?>
<p:sldLayout xmlns:a="http://purl.oclc.org/ooxml/drawingml/main" xmlns:r="http://purl.oclc.org/ooxml/officeDocument/relationships" xmlns:p="http://purl.oclc.org/ooxml/presentationml/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11CA-27A1-49D2-D017-B47188D219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9230EF-DB22-DEA3-DD78-A26301D8B9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CC42B4-CEAE-F8FD-2A68-6F9ECB046E48}"/>
              </a:ext>
            </a:extLst>
          </p:cNvPr>
          <p:cNvSpPr>
            <a:spLocks noGrp="1"/>
          </p:cNvSpPr>
          <p:nvPr>
            <p:ph type="dt" sz="half" idx="10"/>
          </p:nvPr>
        </p:nvSpPr>
        <p:spPr/>
        <p:txBody>
          <a:bodyPr/>
          <a:lstStyle/>
          <a:p>
            <a:fld id="{0CFD009B-858A-49E8-B108-BE1EC4B6FD4E}" type="datetimeFigureOut">
              <a:rPr lang="en-US" smtClean="0"/>
              <a:t>9/26/2025</a:t>
            </a:fld>
            <a:endParaRPr lang="en-US"/>
          </a:p>
        </p:txBody>
      </p:sp>
      <p:sp>
        <p:nvSpPr>
          <p:cNvPr id="5" name="Footer Placeholder 4">
            <a:extLst>
              <a:ext uri="{FF2B5EF4-FFF2-40B4-BE49-F238E27FC236}">
                <a16:creationId xmlns:a16="http://schemas.microsoft.com/office/drawing/2014/main" id="{14A8E6FF-485A-A8EF-7DEC-A0A703373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B295AA-8115-B81D-7E46-12A44F23F33A}"/>
              </a:ext>
            </a:extLst>
          </p:cNvPr>
          <p:cNvSpPr>
            <a:spLocks noGrp="1"/>
          </p:cNvSpPr>
          <p:nvPr>
            <p:ph type="sldNum" sz="quarter" idx="12"/>
          </p:nvPr>
        </p:nvSpPr>
        <p:spPr/>
        <p:txBody>
          <a:bodyPr/>
          <a:lstStyle/>
          <a:p>
            <a:fld id="{7E864E62-90F1-47C4-9F16-8AA52ABBD930}" type="slidenum">
              <a:rPr lang="en-US" smtClean="0"/>
              <a:t>‹#›</a:t>
            </a:fld>
            <a:endParaRPr lang="en-US"/>
          </a:p>
        </p:txBody>
      </p:sp>
    </p:spTree>
    <p:extLst>
      <p:ext uri="{BB962C8B-B14F-4D97-AF65-F5344CB8AC3E}">
        <p14:creationId xmlns:p14="http://schemas.microsoft.com/office/powerpoint/2010/main" val="144311152"/>
      </p:ext>
    </p:extLst>
  </p:cSld>
  <p:clrMapOvr>
    <a:masterClrMapping/>
  </p:clrMapOvr>
</p:sldLayout>
</file>

<file path=ppt/slideLayouts/slideLayout11.xml><?xml version="1.0" encoding="utf-8"?>
<p:sldLayout xmlns:a="http://purl.oclc.org/ooxml/drawingml/main" xmlns:r="http://purl.oclc.org/ooxml/officeDocument/relationships" xmlns:p="http://purl.oclc.org/ooxml/presentationml/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9A26FA-951C-3111-200B-19212842AE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9FFABB-C5E2-96AC-E26A-EDC736ACAB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2B13C1-ACB7-4F79-5B56-C934B6446CCE}"/>
              </a:ext>
            </a:extLst>
          </p:cNvPr>
          <p:cNvSpPr>
            <a:spLocks noGrp="1"/>
          </p:cNvSpPr>
          <p:nvPr>
            <p:ph type="dt" sz="half" idx="10"/>
          </p:nvPr>
        </p:nvSpPr>
        <p:spPr/>
        <p:txBody>
          <a:bodyPr/>
          <a:lstStyle/>
          <a:p>
            <a:fld id="{0CFD009B-858A-49E8-B108-BE1EC4B6FD4E}" type="datetimeFigureOut">
              <a:rPr lang="en-US" smtClean="0"/>
              <a:t>9/26/2025</a:t>
            </a:fld>
            <a:endParaRPr lang="en-US"/>
          </a:p>
        </p:txBody>
      </p:sp>
      <p:sp>
        <p:nvSpPr>
          <p:cNvPr id="5" name="Footer Placeholder 4">
            <a:extLst>
              <a:ext uri="{FF2B5EF4-FFF2-40B4-BE49-F238E27FC236}">
                <a16:creationId xmlns:a16="http://schemas.microsoft.com/office/drawing/2014/main" id="{3A8BDFAE-8CD0-D5EC-5219-5BFE37BBEE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388898-1C3C-8BAC-BB9E-2C868AF567A3}"/>
              </a:ext>
            </a:extLst>
          </p:cNvPr>
          <p:cNvSpPr>
            <a:spLocks noGrp="1"/>
          </p:cNvSpPr>
          <p:nvPr>
            <p:ph type="sldNum" sz="quarter" idx="12"/>
          </p:nvPr>
        </p:nvSpPr>
        <p:spPr/>
        <p:txBody>
          <a:bodyPr/>
          <a:lstStyle/>
          <a:p>
            <a:fld id="{7E864E62-90F1-47C4-9F16-8AA52ABBD930}" type="slidenum">
              <a:rPr lang="en-US" smtClean="0"/>
              <a:t>‹#›</a:t>
            </a:fld>
            <a:endParaRPr lang="en-US"/>
          </a:p>
        </p:txBody>
      </p:sp>
    </p:spTree>
    <p:extLst>
      <p:ext uri="{BB962C8B-B14F-4D97-AF65-F5344CB8AC3E}">
        <p14:creationId xmlns:p14="http://schemas.microsoft.com/office/powerpoint/2010/main" val="3746462662"/>
      </p:ext>
    </p:extLst>
  </p:cSld>
  <p:clrMapOvr>
    <a:masterClrMapping/>
  </p:clrMapOvr>
</p:sldLayout>
</file>

<file path=ppt/slideMasters/_rels/slideMaster1.xml.rels><?xml version="1.0" encoding="UTF-8" standalone="yes"?>
<Relationships xmlns="http://schemas.openxmlformats.org/package/2006/relationships"><Relationship Id="rId8" Type="http://purl.oclc.org/ooxml/officeDocument/relationships/slideLayout" Target="../slideLayouts/slideLayout8.xml"/><Relationship Id="rId3" Type="http://purl.oclc.org/ooxml/officeDocument/relationships/slideLayout" Target="../slideLayouts/slideLayout3.xml"/><Relationship Id="rId7" Type="http://purl.oclc.org/ooxml/officeDocument/relationships/slideLayout" Target="../slideLayouts/slideLayout7.xml"/><Relationship Id="rId12" Type="http://purl.oclc.org/ooxml/officeDocument/relationships/theme" Target="../theme/theme1.xml"/><Relationship Id="rId2" Type="http://purl.oclc.org/ooxml/officeDocument/relationships/slideLayout" Target="../slideLayouts/slideLayout2.xml"/><Relationship Id="rId1" Type="http://purl.oclc.org/ooxml/officeDocument/relationships/slideLayout" Target="../slideLayouts/slideLayout1.xml"/><Relationship Id="rId6" Type="http://purl.oclc.org/ooxml/officeDocument/relationships/slideLayout" Target="../slideLayouts/slideLayout6.xml"/><Relationship Id="rId11" Type="http://purl.oclc.org/ooxml/officeDocument/relationships/slideLayout" Target="../slideLayouts/slideLayout11.xml"/><Relationship Id="rId5" Type="http://purl.oclc.org/ooxml/officeDocument/relationships/slideLayout" Target="../slideLayouts/slideLayout5.xml"/><Relationship Id="rId10" Type="http://purl.oclc.org/ooxml/officeDocument/relationships/slideLayout" Target="../slideLayouts/slideLayout10.xml"/><Relationship Id="rId4" Type="http://purl.oclc.org/ooxml/officeDocument/relationships/slideLayout" Target="../slideLayouts/slideLayout4.xml"/><Relationship Id="rId9" Type="http://purl.oclc.org/ooxml/officeDocument/relationships/slideLayout" Target="../slideLayouts/slideLayout9.xml"/></Relationships>
</file>

<file path=ppt/slideMasters/slideMaster1.xml><?xml version="1.0" encoding="utf-8"?>
<p:sldMaster xmlns:a="http://purl.oclc.org/ooxml/drawingml/main" xmlns:r="http://purl.oclc.org/ooxml/officeDocument/relationships" xmlns:p="http://purl.oclc.org/ooxml/presentationml/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D8DB45-F0E7-B24A-3350-037EC23185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4B0C29-8BFB-8354-AF68-6BFF1D62D9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B8F299-164E-61CB-78B9-F42353E832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
                  </a:schemeClr>
                </a:solidFill>
              </a:defRPr>
            </a:lvl1pPr>
          </a:lstStyle>
          <a:p>
            <a:fld id="{0CFD009B-858A-49E8-B108-BE1EC4B6FD4E}" type="datetimeFigureOut">
              <a:rPr lang="en-US" smtClean="0"/>
              <a:t>9/26/2025</a:t>
            </a:fld>
            <a:endParaRPr lang="en-US"/>
          </a:p>
        </p:txBody>
      </p:sp>
      <p:sp>
        <p:nvSpPr>
          <p:cNvPr id="5" name="Footer Placeholder 4">
            <a:extLst>
              <a:ext uri="{FF2B5EF4-FFF2-40B4-BE49-F238E27FC236}">
                <a16:creationId xmlns:a16="http://schemas.microsoft.com/office/drawing/2014/main" id="{1312DEA4-908B-2415-81B3-7452C17C40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
                  </a:schemeClr>
                </a:solidFill>
              </a:defRPr>
            </a:lvl1pPr>
          </a:lstStyle>
          <a:p>
            <a:endParaRPr lang="en-US"/>
          </a:p>
        </p:txBody>
      </p:sp>
      <p:sp>
        <p:nvSpPr>
          <p:cNvPr id="6" name="Slide Number Placeholder 5">
            <a:extLst>
              <a:ext uri="{FF2B5EF4-FFF2-40B4-BE49-F238E27FC236}">
                <a16:creationId xmlns:a16="http://schemas.microsoft.com/office/drawing/2014/main" id="{1EFE9249-53EF-3208-438F-F38F021FEA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
                  </a:schemeClr>
                </a:solidFill>
              </a:defRPr>
            </a:lvl1pPr>
          </a:lstStyle>
          <a:p>
            <a:fld id="{7E864E62-90F1-47C4-9F16-8AA52ABBD930}" type="slidenum">
              <a:rPr lang="en-US" smtClean="0"/>
              <a:t>‹#›</a:t>
            </a:fld>
            <a:endParaRPr lang="en-US"/>
          </a:p>
        </p:txBody>
      </p:sp>
    </p:spTree>
    <p:extLst>
      <p:ext uri="{BB962C8B-B14F-4D97-AF65-F5344CB8AC3E}">
        <p14:creationId xmlns:p14="http://schemas.microsoft.com/office/powerpoint/2010/main" val="1568423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purl.oclc.org/ooxml/officeDocument/relationships/image" Target="../media/image2.svg"/><Relationship Id="rId2" Type="http://purl.oclc.org/ooxml/officeDocument/relationships/image" Target="../media/image1.png"/><Relationship Id="rId1" Type="http://purl.oclc.org/ooxml/officeDocument/relationships/slideLayout" Target="../slideLayouts/slideLayout1.xml"/></Relationships>
</file>

<file path=ppt/slides/_rels/slide2.xml.rels><?xml version="1.0" encoding="UTF-8" standalone="yes"?>
<Relationships xmlns="http://schemas.openxmlformats.org/package/2006/relationships"><Relationship Id="rId3" Type="http://purl.oclc.org/ooxml/officeDocument/relationships/diagramLayout" Target="../diagrams/layout1.xml"/><Relationship Id="rId2" Type="http://purl.oclc.org/ooxml/officeDocument/relationships/diagramData" Target="../diagrams/data1.xml"/><Relationship Id="rId1" Type="http://purl.oclc.org/ooxml/officeDocument/relationships/slideLayout" Target="../slideLayouts/slideLayout2.xml"/><Relationship Id="rId6" Type="http://schemas.microsoft.com/office/2007/relationships/diagramDrawing" Target="../diagrams/drawing1.xml"/><Relationship Id="rId5" Type="http://purl.oclc.org/ooxml/officeDocument/relationships/diagramColors" Target="../diagrams/colors1.xml"/><Relationship Id="rId4" Type="http://purl.oclc.org/ooxml/officeDocument/relationships/diagramQuickStyle" Target="../diagrams/quickStyle1.xml"/></Relationships>
</file>

<file path=ppt/slides/_rels/slide3.xml.rels><?xml version="1.0" encoding="UTF-8" standalone="yes"?>
<Relationships xmlns="http://schemas.openxmlformats.org/package/2006/relationships"><Relationship Id="rId3" Type="http://purl.oclc.org/ooxml/officeDocument/relationships/diagramLayout" Target="../diagrams/layout2.xml"/><Relationship Id="rId2" Type="http://purl.oclc.org/ooxml/officeDocument/relationships/diagramData" Target="../diagrams/data2.xml"/><Relationship Id="rId1" Type="http://purl.oclc.org/ooxml/officeDocument/relationships/slideLayout" Target="../slideLayouts/slideLayout2.xml"/><Relationship Id="rId6" Type="http://schemas.microsoft.com/office/2007/relationships/diagramDrawing" Target="../diagrams/drawing2.xml"/><Relationship Id="rId5" Type="http://purl.oclc.org/ooxml/officeDocument/relationships/diagramColors" Target="../diagrams/colors2.xml"/><Relationship Id="rId4" Type="http://purl.oclc.org/ooxml/officeDocument/relationships/diagramQuickStyle" Target="../diagrams/quickStyle2.xml"/></Relationships>
</file>

<file path=ppt/slides/slide1.xml><?xml version="1.0" encoding="utf-8"?>
<p:sld xmlns:a="http://purl.oclc.org/ooxml/drawingml/main" xmlns:r="http://purl.oclc.org/ooxml/officeDocument/relationships" xmlns:p="http://purl.oclc.org/ooxml/presentationml/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10DF85-21CD-5A91-8B7F-9C9C09FE3C40}"/>
              </a:ext>
            </a:extLst>
          </p:cNvPr>
          <p:cNvSpPr>
            <a:spLocks noGrp="1"/>
          </p:cNvSpPr>
          <p:nvPr>
            <p:ph type="ctrTitle"/>
          </p:nvPr>
        </p:nvSpPr>
        <p:spPr>
          <a:xfrm>
            <a:off x="640080" y="320040"/>
            <a:ext cx="6692827" cy="3892669"/>
          </a:xfrm>
        </p:spPr>
        <p:txBody>
          <a:bodyPr>
            <a:normAutofit/>
          </a:bodyPr>
          <a:lstStyle/>
          <a:p>
            <a:pPr algn="l"/>
            <a:r>
              <a:rPr lang="en-US" sz="5400" dirty="0"/>
              <a:t>Enhancing Credit Default Swap Spread Prediction with NLP-Driven Economic News Analysis</a:t>
            </a:r>
            <a:endParaRPr lang="en-US" sz="5400" noProof="0" dirty="0"/>
          </a:p>
        </p:txBody>
      </p:sp>
      <p:sp>
        <p:nvSpPr>
          <p:cNvPr id="3" name="Subtitle 2">
            <a:extLst>
              <a:ext uri="{FF2B5EF4-FFF2-40B4-BE49-F238E27FC236}">
                <a16:creationId xmlns:a16="http://schemas.microsoft.com/office/drawing/2014/main" id="{C90820A3-0C69-748A-FD84-A44E4968E5DE}"/>
              </a:ext>
            </a:extLst>
          </p:cNvPr>
          <p:cNvSpPr>
            <a:spLocks noGrp="1"/>
          </p:cNvSpPr>
          <p:nvPr>
            <p:ph type="subTitle" idx="1"/>
          </p:nvPr>
        </p:nvSpPr>
        <p:spPr>
          <a:xfrm>
            <a:off x="640080" y="4631161"/>
            <a:ext cx="6692827" cy="1569486"/>
          </a:xfrm>
        </p:spPr>
        <p:txBody>
          <a:bodyPr>
            <a:normAutofit/>
          </a:bodyPr>
          <a:lstStyle/>
          <a:p>
            <a:pPr algn="l"/>
            <a:r>
              <a:rPr lang="en-US" sz="2000" dirty="0"/>
              <a:t>In this study, I aim to apply machine learning and deep learning methods to predict future movements in CDS spread. The primary focus will be on leveraging textual and economic data to construct a macroeconomic index, which will serve as a key input to the prediction model.</a:t>
            </a:r>
            <a:endParaRPr lang="en-US" sz="2000" noProof="0" dirty="0"/>
          </a:p>
        </p:txBody>
      </p:sp>
      <p:sp>
        <p:nvSpPr>
          <p:cNvPr id="2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descr="Money">
            <a:extLst>
              <a:ext uri="{FF2B5EF4-FFF2-40B4-BE49-F238E27FC236}">
                <a16:creationId xmlns:a16="http://schemas.microsoft.com/office/drawing/2014/main" id="{865B5D42-BD05-EB6E-0BF9-3F6AC318C1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81544" y="1267079"/>
            <a:ext cx="4087368" cy="4087368"/>
          </a:xfrm>
          <a:prstGeom prst="rect">
            <a:avLst/>
          </a:prstGeom>
        </p:spPr>
      </p:pic>
    </p:spTree>
    <p:extLst>
      <p:ext uri="{BB962C8B-B14F-4D97-AF65-F5344CB8AC3E}">
        <p14:creationId xmlns:p14="http://schemas.microsoft.com/office/powerpoint/2010/main" val="1026859598"/>
      </p:ext>
    </p:extLst>
  </p:cSld>
  <p:clrMapOvr>
    <a:masterClrMapping/>
  </p:clrMapOvr>
</p:sld>
</file>

<file path=ppt/slides/slide2.xml><?xml version="1.0" encoding="utf-8"?>
<p:sld xmlns:a="http://purl.oclc.org/ooxml/drawingml/main" xmlns:r="http://purl.oclc.org/ooxml/officeDocument/relationships" xmlns:p="http://purl.oclc.org/ooxml/presentationml/main">
  <p:cSld>
    <p:spTree>
      <p:nvGrpSpPr>
        <p:cNvPr id="1" name="">
          <a:extLst>
            <a:ext uri="{FF2B5EF4-FFF2-40B4-BE49-F238E27FC236}">
              <a16:creationId xmlns:a16="http://schemas.microsoft.com/office/drawing/2014/main" id="{BD41F754-400E-4F1F-3FC5-C134F48DDF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BC26C-DAC9-CE9C-2367-6C69DA9CCA29}"/>
              </a:ext>
            </a:extLst>
          </p:cNvPr>
          <p:cNvSpPr>
            <a:spLocks noGrp="1"/>
          </p:cNvSpPr>
          <p:nvPr>
            <p:ph type="title"/>
          </p:nvPr>
        </p:nvSpPr>
        <p:spPr>
          <a:xfrm>
            <a:off x="1179226" y="329700"/>
            <a:ext cx="9833548" cy="1066802"/>
          </a:xfrm>
        </p:spPr>
        <p:txBody>
          <a:bodyPr anchor="b">
            <a:normAutofit/>
          </a:bodyPr>
          <a:lstStyle/>
          <a:p>
            <a:r>
              <a:rPr lang="en-US" sz="3600" noProof="0" dirty="0">
                <a:solidFill>
                  <a:schemeClr val="tx2"/>
                </a:solidFill>
              </a:rPr>
              <a:t>Relevance, Core references and the Data</a:t>
            </a:r>
          </a:p>
        </p:txBody>
      </p:sp>
      <p:graphicFrame>
        <p:nvGraphicFramePr>
          <p:cNvPr id="26" name="Content Placeholder 2">
            <a:extLst>
              <a:ext uri="{FF2B5EF4-FFF2-40B4-BE49-F238E27FC236}">
                <a16:creationId xmlns:a16="http://schemas.microsoft.com/office/drawing/2014/main" id="{0E78E6F0-275B-E1CC-C516-846B69467639}"/>
              </a:ext>
            </a:extLst>
          </p:cNvPr>
          <p:cNvGraphicFramePr>
            <a:graphicFrameLocks noGrp="1"/>
          </p:cNvGraphicFramePr>
          <p:nvPr>
            <p:ph idx="1"/>
            <p:extLst>
              <p:ext uri="{D42A27DB-BD31-4B8C-83A1-F6EECF244321}">
                <p14:modId xmlns:p14="http://schemas.microsoft.com/office/powerpoint/2010/main" val="1234647897"/>
              </p:ext>
            </p:extLst>
          </p:nvPr>
        </p:nvGraphicFramePr>
        <p:xfrm>
          <a:off x="1179226" y="1517515"/>
          <a:ext cx="9833548" cy="3336587"/>
        </p:xfrm>
        <a:graphic>
          <a:graphicData uri="http://purl.oclc.org/ooxml/drawingml/diagram">
            <dgm:relIds xmlns:dgm="http://purl.oclc.org/ooxml/drawingml/diagram" xmlns:r="http://purl.oclc.org/ooxml/officeDocument/relationships" r:dm="rId2" r:lo="rId3" r:qs="rId4" r:cs="rId5"/>
          </a:graphicData>
        </a:graphic>
      </p:graphicFrame>
      <p:sp>
        <p:nvSpPr>
          <p:cNvPr id="3" name="Rectangle: Rounded Corners 2">
            <a:extLst>
              <a:ext uri="{FF2B5EF4-FFF2-40B4-BE49-F238E27FC236}">
                <a16:creationId xmlns:a16="http://schemas.microsoft.com/office/drawing/2014/main" id="{BC8BB637-6091-066C-7FA6-266399E4B92E}"/>
              </a:ext>
            </a:extLst>
          </p:cNvPr>
          <p:cNvSpPr/>
          <p:nvPr/>
        </p:nvSpPr>
        <p:spPr>
          <a:xfrm>
            <a:off x="1088791" y="5244153"/>
            <a:ext cx="9833548" cy="1284147"/>
          </a:xfrm>
          <a:prstGeom prst="roundRect">
            <a:avLst>
              <a:gd name="adj" fmla="val 10000"/>
            </a:avLst>
          </a:prstGeom>
        </p:spPr>
        <p:style>
          <a:lnRef idx="0">
            <a:schemeClr val="accent1">
              <a:hueOff val="0"/>
              <a:satOff val="0%"/>
              <a:lumOff val="0%"/>
              <a:alphaOff val="0%"/>
            </a:schemeClr>
          </a:lnRef>
          <a:fillRef idx="1">
            <a:schemeClr val="accent1">
              <a:tint val="40%"/>
              <a:hueOff val="0"/>
              <a:satOff val="0%"/>
              <a:lumOff val="0%"/>
              <a:alphaOff val="0%"/>
            </a:schemeClr>
          </a:fillRef>
          <a:effectRef idx="0">
            <a:schemeClr val="accent1">
              <a:tint val="40%"/>
              <a:hueOff val="0"/>
              <a:satOff val="0%"/>
              <a:lumOff val="0%"/>
              <a:alphaOff val="0%"/>
            </a:schemeClr>
          </a:effectRef>
          <a:fontRef idx="minor">
            <a:schemeClr val="dk1">
              <a:hueOff val="0"/>
              <a:satOff val="0%"/>
              <a:lumOff val="0%"/>
              <a:alphaOff val="0%"/>
            </a:schemeClr>
          </a:fontRef>
        </p:style>
        <p:txBody>
          <a:bodyPr/>
          <a:lstStyle/>
          <a:p>
            <a:r>
              <a:rPr lang="en-US" sz="1400" dirty="0"/>
              <a:t>Data: CDS data can be purchased from sources like </a:t>
            </a:r>
            <a:r>
              <a:rPr lang="en-US" sz="1400" dirty="0" err="1"/>
              <a:t>MacroMicro</a:t>
            </a:r>
            <a:r>
              <a:rPr lang="en-US" sz="1400" dirty="0"/>
              <a:t> and similar platforms through a subscription. News data is more challenging to obtain, but not impossible—several APIs provide this type of data, such as </a:t>
            </a:r>
            <a:r>
              <a:rPr lang="en-US" sz="1400" dirty="0" err="1"/>
              <a:t>PressReader</a:t>
            </a:r>
            <a:r>
              <a:rPr lang="en-US" sz="1400" dirty="0"/>
              <a:t> and NewsData.io. Additionally, there are prepackaged datasets designed for machine learning available on platforms like GitHub, Kaggle, and Hugging Face. These datasets typically need to be downloaded, processed, and scraped to extract relevant sovereign information.</a:t>
            </a:r>
          </a:p>
        </p:txBody>
      </p:sp>
      <p:grpSp>
        <p:nvGrpSpPr>
          <p:cNvPr id="6" name="Group 5">
            <a:extLst>
              <a:ext uri="{FF2B5EF4-FFF2-40B4-BE49-F238E27FC236}">
                <a16:creationId xmlns:a16="http://schemas.microsoft.com/office/drawing/2014/main" id="{97B3C4BF-2821-BC3D-E4E4-C39C2153C78B}"/>
              </a:ext>
            </a:extLst>
          </p:cNvPr>
          <p:cNvGrpSpPr/>
          <p:nvPr/>
        </p:nvGrpSpPr>
        <p:grpSpPr>
          <a:xfrm>
            <a:off x="1417862" y="4268202"/>
            <a:ext cx="975951" cy="975951"/>
            <a:chOff x="7382564" y="1180317"/>
            <a:chExt cx="975951" cy="975951"/>
          </a:xfrm>
        </p:grpSpPr>
        <p:sp>
          <p:nvSpPr>
            <p:cNvPr id="7" name="Arrow: Down 6">
              <a:extLst>
                <a:ext uri="{FF2B5EF4-FFF2-40B4-BE49-F238E27FC236}">
                  <a16:creationId xmlns:a16="http://schemas.microsoft.com/office/drawing/2014/main" id="{7AD557CB-92CD-7F4B-5FDB-C56D45E37E9E}"/>
                </a:ext>
              </a:extLst>
            </p:cNvPr>
            <p:cNvSpPr/>
            <p:nvPr/>
          </p:nvSpPr>
          <p:spPr>
            <a:xfrm>
              <a:off x="7382564" y="1180317"/>
              <a:ext cx="975951" cy="975951"/>
            </a:xfrm>
            <a:prstGeom prst="downArrow">
              <a:avLst>
                <a:gd name="adj1" fmla="val 55000"/>
                <a:gd name="adj2" fmla="val 45000"/>
              </a:avLst>
            </a:prstGeom>
          </p:spPr>
          <p:style>
            <a:lnRef idx="2">
              <a:schemeClr val="accent1">
                <a:alpha val="90%"/>
                <a:tint val="40%"/>
                <a:hueOff val="0"/>
                <a:satOff val="0%"/>
                <a:lumOff val="0%"/>
                <a:alphaOff val="0%"/>
              </a:schemeClr>
            </a:lnRef>
            <a:fillRef idx="1">
              <a:schemeClr val="accent1">
                <a:alpha val="90%"/>
                <a:tint val="40%"/>
                <a:hueOff val="0"/>
                <a:satOff val="0%"/>
                <a:lumOff val="0%"/>
                <a:alphaOff val="0%"/>
              </a:schemeClr>
            </a:fillRef>
            <a:effectRef idx="0">
              <a:schemeClr val="accent1">
                <a:alpha val="90%"/>
                <a:tint val="4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8" name="Arrow: Down 4">
              <a:extLst>
                <a:ext uri="{FF2B5EF4-FFF2-40B4-BE49-F238E27FC236}">
                  <a16:creationId xmlns:a16="http://schemas.microsoft.com/office/drawing/2014/main" id="{24C5B5AD-27D0-AC40-83A4-02EEF2AFE81D}"/>
                </a:ext>
              </a:extLst>
            </p:cNvPr>
            <p:cNvSpPr txBox="1"/>
            <p:nvPr/>
          </p:nvSpPr>
          <p:spPr>
            <a:xfrm>
              <a:off x="7602153" y="1180317"/>
              <a:ext cx="536773" cy="73440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5720" tIns="45720" rIns="45720" bIns="45720" numCol="1" spcCol="1270" anchor="ctr" anchorCtr="0">
              <a:noAutofit/>
            </a:bodyPr>
            <a:lstStyle/>
            <a:p>
              <a:pPr marL="0" lvl="0" indent="0" algn="ctr" defTabSz="1600200">
                <a:lnSpc>
                  <a:spcPct val="90%"/>
                </a:lnSpc>
                <a:spcBef>
                  <a:spcPct val="0%"/>
                </a:spcBef>
                <a:spcAft>
                  <a:spcPct val="35%"/>
                </a:spcAft>
                <a:buNone/>
              </a:pPr>
              <a:endParaRPr lang="en-US" sz="3600" kern="1200"/>
            </a:p>
          </p:txBody>
        </p:sp>
      </p:grpSp>
    </p:spTree>
    <p:extLst>
      <p:ext uri="{BB962C8B-B14F-4D97-AF65-F5344CB8AC3E}">
        <p14:creationId xmlns:p14="http://schemas.microsoft.com/office/powerpoint/2010/main" val="2127446182"/>
      </p:ext>
    </p:extLst>
  </p:cSld>
  <p:clrMapOvr>
    <a:masterClrMapping/>
  </p:clrMapOvr>
</p:sld>
</file>

<file path=ppt/slides/slide3.xml><?xml version="1.0" encoding="utf-8"?>
<p:sld xmlns:a="http://purl.oclc.org/ooxml/drawingml/main" xmlns:r="http://purl.oclc.org/ooxml/officeDocument/relationships" xmlns:p="http://purl.oclc.org/ooxml/presentationml/main">
  <p:cSld>
    <p:bg>
      <p:bgPr>
        <a:solidFill>
          <a:schemeClr val="bg1"/>
        </a:solidFill>
        <a:effectLst/>
      </p:bgPr>
    </p:bg>
    <p:spTree>
      <p:nvGrpSpPr>
        <p:cNvPr id="1" name="">
          <a:extLst>
            <a:ext uri="{FF2B5EF4-FFF2-40B4-BE49-F238E27FC236}">
              <a16:creationId xmlns:a16="http://schemas.microsoft.com/office/drawing/2014/main" id="{8B76092D-403D-55EC-9A7B-9850E0CD2EEF}"/>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A3C7DEA-BCC2-4295-8850-147993296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289949D-B9F6-468A-86FE-2694DC5AE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D88BFC3F-2EF9-76AE-054E-C7488FBBD72B}"/>
              </a:ext>
            </a:extLst>
          </p:cNvPr>
          <p:cNvSpPr>
            <a:spLocks noGrp="1"/>
          </p:cNvSpPr>
          <p:nvPr>
            <p:ph type="title"/>
          </p:nvPr>
        </p:nvSpPr>
        <p:spPr>
          <a:xfrm>
            <a:off x="1179226" y="329700"/>
            <a:ext cx="9833548" cy="1066802"/>
          </a:xfrm>
        </p:spPr>
        <p:txBody>
          <a:bodyPr anchor="b">
            <a:normAutofit/>
          </a:bodyPr>
          <a:lstStyle/>
          <a:p>
            <a:r>
              <a:rPr lang="en-US" sz="3600" dirty="0">
                <a:solidFill>
                  <a:schemeClr val="tx2"/>
                </a:solidFill>
              </a:rPr>
              <a:t>Research question and main hypothesis</a:t>
            </a:r>
          </a:p>
        </p:txBody>
      </p:sp>
      <p:grpSp>
        <p:nvGrpSpPr>
          <p:cNvPr id="20" name="Group 19">
            <a:extLst>
              <a:ext uri="{FF2B5EF4-FFF2-40B4-BE49-F238E27FC236}">
                <a16:creationId xmlns:a16="http://schemas.microsoft.com/office/drawing/2014/main" id="{E4DF0958-0C87-4C28-9554-2FADC788C2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
            </a:schemeClr>
          </a:solidFill>
        </p:grpSpPr>
        <p:sp>
          <p:nvSpPr>
            <p:cNvPr id="21" name="Freeform: Shape 20">
              <a:extLst>
                <a:ext uri="{FF2B5EF4-FFF2-40B4-BE49-F238E27FC236}">
                  <a16:creationId xmlns:a16="http://schemas.microsoft.com/office/drawing/2014/main" id="{DEC53B48-7B73-49D1-A6FD-9DBF5141E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
                  <a:schemeClr val="bg1">
                    <a:alpha val="10%"/>
                  </a:schemeClr>
                </a:gs>
                <a:gs pos="16%">
                  <a:schemeClr val="accent6">
                    <a:alpha val="10%"/>
                  </a:schemeClr>
                </a:gs>
                <a:gs pos="100%">
                  <a:schemeClr val="bg1">
                    <a:alpha val="10%"/>
                  </a:schemeClr>
                </a:gs>
                <a:gs pos="85%">
                  <a:schemeClr val="accent1">
                    <a:alpha val="10%"/>
                  </a:schemeClr>
                </a:gs>
              </a:gsLst>
              <a:lin ang="12000000" scaled="0"/>
            </a:gradFill>
            <a:ln>
              <a:noFill/>
            </a:ln>
          </p:spPr>
          <p:style>
            <a:lnRef idx="2">
              <a:schemeClr val="accent1">
                <a:shade val="5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7DEDDC41-2C98-4AF1-A0EA-AEEC34827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
                  <a:schemeClr val="bg1">
                    <a:alpha val="10%"/>
                  </a:schemeClr>
                </a:gs>
                <a:gs pos="16%">
                  <a:schemeClr val="accent6">
                    <a:alpha val="10%"/>
                  </a:schemeClr>
                </a:gs>
                <a:gs pos="100%">
                  <a:schemeClr val="bg1">
                    <a:alpha val="10%"/>
                  </a:schemeClr>
                </a:gs>
                <a:gs pos="85%">
                  <a:schemeClr val="accent1">
                    <a:alpha val="10%"/>
                  </a:schemeClr>
                </a:gs>
              </a:gsLst>
              <a:lin ang="12000000" scaled="0"/>
            </a:gradFill>
            <a:ln>
              <a:noFill/>
            </a:ln>
          </p:spPr>
          <p:style>
            <a:lnRef idx="2">
              <a:schemeClr val="accent1">
                <a:shade val="5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D2208F20-F93C-4530-8370-FC7818BAB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
                  <a:schemeClr val="bg1">
                    <a:alpha val="10%"/>
                  </a:schemeClr>
                </a:gs>
                <a:gs pos="16%">
                  <a:schemeClr val="accent6">
                    <a:alpha val="10%"/>
                  </a:schemeClr>
                </a:gs>
                <a:gs pos="100%">
                  <a:schemeClr val="bg1">
                    <a:alpha val="10%"/>
                  </a:schemeClr>
                </a:gs>
                <a:gs pos="85%">
                  <a:schemeClr val="accent1">
                    <a:alpha val="10%"/>
                  </a:schemeClr>
                </a:gs>
              </a:gsLst>
              <a:lin ang="12000000" scaled="0"/>
            </a:gradFill>
            <a:ln>
              <a:noFill/>
            </a:ln>
          </p:spPr>
          <p:style>
            <a:lnRef idx="2">
              <a:schemeClr val="accent1">
                <a:shade val="5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E52F51E0-B50B-43EA-B6AC-C16BD29C3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
                  <a:schemeClr val="bg1">
                    <a:alpha val="10%"/>
                  </a:schemeClr>
                </a:gs>
                <a:gs pos="16%">
                  <a:schemeClr val="accent6">
                    <a:alpha val="10%"/>
                  </a:schemeClr>
                </a:gs>
                <a:gs pos="100%">
                  <a:schemeClr val="bg1">
                    <a:alpha val="10%"/>
                  </a:schemeClr>
                </a:gs>
                <a:gs pos="85%">
                  <a:schemeClr val="accent1">
                    <a:alpha val="10%"/>
                  </a:schemeClr>
                </a:gs>
              </a:gsLst>
              <a:lin ang="12000000" scaled="0"/>
            </a:gradFill>
            <a:ln>
              <a:noFill/>
            </a:ln>
          </p:spPr>
          <p:style>
            <a:lnRef idx="2">
              <a:schemeClr val="accent1">
                <a:shade val="5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6" name="Content Placeholder 2">
            <a:extLst>
              <a:ext uri="{FF2B5EF4-FFF2-40B4-BE49-F238E27FC236}">
                <a16:creationId xmlns:a16="http://schemas.microsoft.com/office/drawing/2014/main" id="{04B2FF16-80C4-0CE3-6CF5-3C46C8B5FAAF}"/>
              </a:ext>
            </a:extLst>
          </p:cNvPr>
          <p:cNvGraphicFramePr>
            <a:graphicFrameLocks noGrp="1"/>
          </p:cNvGraphicFramePr>
          <p:nvPr>
            <p:ph idx="1"/>
            <p:extLst>
              <p:ext uri="{D42A27DB-BD31-4B8C-83A1-F6EECF244321}">
                <p14:modId xmlns:p14="http://schemas.microsoft.com/office/powerpoint/2010/main" val="3482860276"/>
              </p:ext>
            </p:extLst>
          </p:nvPr>
        </p:nvGraphicFramePr>
        <p:xfrm>
          <a:off x="1179226" y="1517515"/>
          <a:ext cx="9833548" cy="3336587"/>
        </p:xfrm>
        <a:graphic>
          <a:graphicData uri="http://purl.oclc.org/ooxml/drawingml/diagram">
            <dgm:relIds xmlns:dgm="http://purl.oclc.org/ooxml/drawingml/diagram" xmlns:r="http://purl.oclc.org/ooxml/officeDocument/relationships" r:dm="rId2" r:lo="rId3" r:qs="rId4" r:cs="rId5"/>
          </a:graphicData>
        </a:graphic>
      </p:graphicFrame>
    </p:spTree>
    <p:extLst>
      <p:ext uri="{BB962C8B-B14F-4D97-AF65-F5344CB8AC3E}">
        <p14:creationId xmlns:p14="http://schemas.microsoft.com/office/powerpoint/2010/main" val="3159094197"/>
      </p:ext>
    </p:extLst>
  </p:cSld>
  <p:clrMapOvr>
    <a:masterClrMapping/>
  </p:clrMapOvr>
</p:sld>
</file>

<file path=ppt/theme/theme1.xml><?xml version="1.0" encoding="utf-8"?>
<a:theme xmlns:a="http://purl.oclc.org/ooxml/drawingml/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
                <a:satMod val="105%"/>
                <a:tint val="67%"/>
              </a:schemeClr>
            </a:gs>
            <a:gs pos="50%">
              <a:schemeClr val="phClr">
                <a:lumMod val="105%"/>
                <a:satMod val="103%"/>
                <a:tint val="73%"/>
              </a:schemeClr>
            </a:gs>
            <a:gs pos="100%">
              <a:schemeClr val="phClr">
                <a:lumMod val="105%"/>
                <a:satMod val="109%"/>
                <a:tint val="81%"/>
              </a:schemeClr>
            </a:gs>
          </a:gsLst>
          <a:lin ang="5400000" scaled="0"/>
        </a:gradFill>
        <a:gradFill rotWithShape="1">
          <a:gsLst>
            <a:gs pos="0%">
              <a:schemeClr val="phClr">
                <a:satMod val="103%"/>
                <a:lumMod val="102%"/>
                <a:tint val="94%"/>
              </a:schemeClr>
            </a:gs>
            <a:gs pos="50%">
              <a:schemeClr val="phClr">
                <a:satMod val="110%"/>
                <a:lumMod val="100%"/>
                <a:shade val="100%"/>
              </a:schemeClr>
            </a:gs>
            <a:gs pos="100%">
              <a:schemeClr val="phClr">
                <a:lumMod val="99%"/>
                <a:satMod val="120%"/>
                <a:shade val="78%"/>
              </a:schemeClr>
            </a:gs>
          </a:gsLst>
          <a:lin ang="5400000" scaled="0"/>
        </a:gradFill>
      </a:fillStyleLst>
      <a:lnStyleLst>
        <a:ln w="12700" cap="flat" cmpd="sng" algn="ctr">
          <a:solidFill>
            <a:schemeClr val="phClr"/>
          </a:solidFill>
          <a:prstDash val="solid"/>
          <a:miter lim="800%"/>
        </a:ln>
        <a:ln w="19050" cap="flat" cmpd="sng" algn="ctr">
          <a:solidFill>
            <a:schemeClr val="phClr"/>
          </a:solidFill>
          <a:prstDash val="solid"/>
          <a:miter lim="800%"/>
        </a:ln>
        <a:ln w="25400" cap="flat" cmpd="sng" algn="ctr">
          <a:solidFill>
            <a:schemeClr val="phClr"/>
          </a:solidFill>
          <a:prstDash val="solid"/>
          <a:miter lim="800%"/>
        </a:ln>
      </a:lnStyleLst>
      <a:effectStyleLst>
        <a:effectStyle>
          <a:effectLst/>
        </a:effectStyle>
        <a:effectStyle>
          <a:effectLst/>
        </a:effectStyle>
        <a:effectStyle>
          <a:effectLst>
            <a:outerShdw blurRad="57150" dist="19050" dir="5400000" algn="ctr" rotWithShape="0">
              <a:srgbClr val="000000">
                <a:alpha val="63%"/>
              </a:srgbClr>
            </a:outerShdw>
          </a:effectLst>
        </a:effectStyle>
      </a:effectStyleLst>
      <a:bgFillStyleLst>
        <a:solidFill>
          <a:schemeClr val="phClr"/>
        </a:solidFill>
        <a:solidFill>
          <a:schemeClr val="phClr">
            <a:tint val="95%"/>
            <a:satMod val="170%"/>
          </a:schemeClr>
        </a:solidFill>
        <a:gradFill rotWithShape="1">
          <a:gsLst>
            <a:gs pos="0%">
              <a:schemeClr val="phClr">
                <a:tint val="93%"/>
                <a:satMod val="150%"/>
                <a:shade val="98%"/>
                <a:lumMod val="102%"/>
              </a:schemeClr>
            </a:gs>
            <a:gs pos="50%">
              <a:schemeClr val="phClr">
                <a:tint val="98%"/>
                <a:satMod val="130%"/>
                <a:shade val="90%"/>
                <a:lumMod val="103%"/>
              </a:schemeClr>
            </a:gs>
            <a:gs pos="100%">
              <a:schemeClr val="phClr">
                <a:shade val="63%"/>
                <a:satMod val="12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purl.oclc.org/ooxml/officeDocument/extendedProperties" xmlns:vt="http://purl.oclc.org/ooxml/officeDocument/docPropsVTypes">
  <TotalTime>0</TotalTime>
  <Words>330</Words>
  <Application>Microsoft Office PowerPoint</Application>
  <PresentationFormat>Widescreen</PresentationFormat>
  <Paragraphs>11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Enhancing Credit Default Swap Spread Prediction with NLP-Driven Economic News Analysis</vt:lpstr>
      <vt:lpstr>Relevance, Core references and the Data</vt:lpstr>
      <vt:lpstr>Research question and main hypothesis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Rickard Sjöberg</dc:creator>
  <cp:lastModifiedBy>Rickard Sjöberg</cp:lastModifiedBy>
  <cp:revision>20</cp:revision>
  <dcterms:created xsi:type="dcterms:W3CDTF">2025-09-22T17:38:22Z</dcterms:created>
  <dcterms:modified xsi:type="dcterms:W3CDTF">2025-09-29T19:18:01Z</dcterms:modified>
</cp:coreProperties>
</file>